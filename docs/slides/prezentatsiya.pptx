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11.jpg" ContentType="image/jpg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85" r:id="rId20"/>
    <p:sldId id="287" r:id="rId22"/>
    <p:sldId id="276" r:id="rId5"/>
    <p:sldId id="286" r:id="rId21"/>
    <p:sldId id="277" r:id="rId6"/>
    <p:sldId id="278" r:id="rId7"/>
    <p:sldId id="280" r:id="rId8"/>
    <p:sldId id="279" r:id="rId9"/>
    <p:sldId id="281" r:id="rId10"/>
    <p:sldId id="282" r:id="rId11"/>
    <p:sldId id="283" r:id="rId12"/>
    <p:sldId id="284" r:id="rId13"/>
    <p:sldId id="25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5" d="100"/>
          <a:sy n="115" d="100"/>
        </p:scale>
        <p:origin x="-312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4.xml"/><Relationship Id="rId21" Type="http://schemas.openxmlformats.org/officeDocument/2006/relationships/slide" Target="slides/slide7.xml"/><Relationship Id="rId2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C8850-4F7C-4F32-A428-B45380D9B717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7F60A-D650-4C24-A25C-12FAA49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5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Одна фраза о проекте: агент отвечает сотрудникам по внутренним документам и учётной базе со ссылкой на пункт, честно говорит «не нашёл», работает без интернета на отечественной модели.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F60A-D650-4C24-A25C-12FAA49429E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71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говорить «аналогов нет». Главное — цифра потерь времени и подтверждение интервью. Цифру McKinsey называть с источником; свои цифры из интервью сильнее — вставьте 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три числа и сказать, как они получены: эталонный набор, скрипт eval/run_eval.py. Честно добавить: набор использовался и для отладки, независимая проверка — на вопросах партнёра.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Технологическое ядро — генерация с опорой на найденные фрагменты документов. Модель не обучается на документах: документы разбираются на пункты и индексируются, на каждый вопрос модель получает только найденные фрагменты. Поэтому у каждого ответа есть источник, новые документы подключаются пересборкой индекса за минуту, а права доступа соблюдаются. Четыре уровня защиты от выдумок отмечены оранжевыми номерами; четвёртый — проверка, что ответ относится к тому же предмету, а не к похожему. Вопросы по учёту агент переводит в SQL-запрос только на чтение.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Сверено по сайтам 03.10.2026.</a:t>
            </a:r>
          </a:p>
          <a:p>
            <a:r>
              <a:t>Яндекс. «Нейроэксперт» в 2026 году переименован в «Алису Про». Для организаций — «Алиса AI для бизнеса» в Яндекс 360: база знаний и ответы со ссылками на источники, плагины 1С, Битрикс24, amoCRM, данные в ЦОД Яндекса в РФ, 1 199 ₽ в месяц за сотрудника (360.yandex.ru/business/alice-business). С 24.09.2026 — «Алиса AI Про для бизнеса»: 2 490–11 490 ₽ в месяц за сотрудника, облако, гибрид или контур — условия по проекту (aistudio.yandex.ru/ru/solutions/alice-ai-pro).</a:t>
            </a:r>
          </a:p>
          <a:p>
            <a:r>
              <a:t>Just AI, Jay Knowledge Hub: on-premise или частное облако по запросу, ссылки на первоисточник, встроенная оценка на эталоне (в кейсах 89–96 % точности), ответы по CSV и выгрузкам 1С, модели на выбор, в реестре отечественного ПО (just-ai.com/ai-baza-znaniy).</a:t>
            </a:r>
          </a:p>
          <a:p>
            <a:r>
              <a:t>RAGFlow (Apache 2.0), Dify: открытый код, ставятся в контур, ссылки на фрагменты; настройка и сопровождение — своей ИТ-командой.</a:t>
            </a:r>
          </a:p>
          <a:p>
            <a:r>
              <a:t>Не в таблице: GigaChat API — облачная модель Сбера, а не готовый продукт: ссылки и отказы делает разработчик. Битрикс24 BitrixGPT (бывший CoPilot) ищет по базе знаний портала; коробочной версии нужен доступ к облачным серверам Битрикс24.</a:t>
            </a:r>
          </a:p>
          <a:p>
            <a:r>
              <a:t>Если спросят «чем вы лучше Яндекса»: у Яндекса облако и подписка за каждого сотрудника, контур — отдельным проектом; у нас всё на одном компьютере без интернета, ссылка на пункт и страницу с выделением, опубликованный замер честных отказов. Если спросят «это же просто RAG»: RAG — техника, продукт — гарантии.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первом этапе монетизацию показываем как гипотезу. Подробный расчёт — второй этап.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путь команды: что было на входе (идея) и что на выходе (прототип, цифры, интервью).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из списка индустриальных партнёров — это плюс к оценке, назвать явно.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TRL 4 — прототип, подтверждение характеристик в лабораторных условиях. Артефакты показать: видео и таблицу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Строки «до» и «после» — главное доказательство динамики. Обновить после интервью.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Польза не только сотруднику, но и руководителю: агент показывает, каких документов не хватает. Вопросы без ответа собраны в темы, видно, сколько раз и у каких ролей их задавали, список выгружается в CSV. Цифры на экране — с тестовых вопросов команды, это не данные партнёра.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вопрос «как поставить это на завод без интернета». Поставка собирается одной командой (scripts/make_bundle.py), на компьютере без сети запускается install.bat — 46 секунд, затем проверка «ГОТОВО К ПОКАЗУ». Служба безопасности сверяет контрольные суммы файлов. Во время работы чат и модели соединяются только с самим компьютером. Скорость — медиана на 85 вопросах эталона; качество во всех режимах 85 из 85, модель одна и та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Этим агент отличается от «чата по документам». Сравнение редакций: «Что изменилось в СТП ДП-02?» — изменённые, добавленные и исключённые пункты; телефон 2200 → 2211, срок 2 часа → 30 минут; пункты сопоставляются по смыслу, даже если нумерация сдвинулась, без языковой модели. Нормоконтроль: приказ в Word проверяется программно по ГОСТ Р 7.0.97 — в демо 6 нарушений и 1 рекомендация, у каждого ссылка на пункт стандарта; исправленный приказ — «Замечаний нет». Реквизиты и содержание по-прежнему проверяет человек. [Если участник 3 договорится — сказать о пилоте нормоконтроля в РГРТУ.]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554287"/>
            <a:ext cx="10050780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499" y="1479092"/>
            <a:ext cx="11125835" cy="4792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9145" y="6442645"/>
            <a:ext cx="2825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0296" y="511962"/>
            <a:ext cx="1520825" cy="551558"/>
          </a:xfrm>
          <a:custGeom>
            <a:avLst/>
            <a:gdLst/>
            <a:ahLst/>
            <a:cxnLst/>
            <a:rect l="l" t="t" r="r" b="b"/>
            <a:pathLst>
              <a:path w="5154295" h="1972945">
                <a:moveTo>
                  <a:pt x="1779397" y="1558163"/>
                </a:moveTo>
                <a:lnTo>
                  <a:pt x="1663064" y="1558163"/>
                </a:lnTo>
                <a:lnTo>
                  <a:pt x="1663064" y="1729867"/>
                </a:lnTo>
                <a:lnTo>
                  <a:pt x="1710563" y="1729867"/>
                </a:lnTo>
                <a:lnTo>
                  <a:pt x="1710563" y="1674876"/>
                </a:lnTo>
                <a:lnTo>
                  <a:pt x="1779397" y="1674876"/>
                </a:lnTo>
                <a:lnTo>
                  <a:pt x="1813046" y="1670518"/>
                </a:lnTo>
                <a:lnTo>
                  <a:pt x="1834943" y="1658493"/>
                </a:lnTo>
                <a:lnTo>
                  <a:pt x="1846816" y="1640371"/>
                </a:lnTo>
                <a:lnTo>
                  <a:pt x="1847403" y="1636649"/>
                </a:lnTo>
                <a:lnTo>
                  <a:pt x="1710563" y="1636649"/>
                </a:lnTo>
                <a:lnTo>
                  <a:pt x="1710563" y="1596517"/>
                </a:lnTo>
                <a:lnTo>
                  <a:pt x="1847555" y="1596517"/>
                </a:lnTo>
                <a:lnTo>
                  <a:pt x="1846905" y="1592238"/>
                </a:lnTo>
                <a:lnTo>
                  <a:pt x="1835181" y="1574196"/>
                </a:lnTo>
                <a:lnTo>
                  <a:pt x="1813313" y="1562393"/>
                </a:lnTo>
                <a:lnTo>
                  <a:pt x="1779397" y="1558163"/>
                </a:lnTo>
                <a:close/>
              </a:path>
              <a:path w="5154295" h="1972945">
                <a:moveTo>
                  <a:pt x="1847555" y="1596517"/>
                </a:moveTo>
                <a:lnTo>
                  <a:pt x="1775968" y="1596517"/>
                </a:lnTo>
                <a:lnTo>
                  <a:pt x="1787270" y="1597876"/>
                </a:lnTo>
                <a:lnTo>
                  <a:pt x="1795049" y="1601771"/>
                </a:lnTo>
                <a:lnTo>
                  <a:pt x="1799542" y="1607929"/>
                </a:lnTo>
                <a:lnTo>
                  <a:pt x="1800987" y="1616075"/>
                </a:lnTo>
                <a:lnTo>
                  <a:pt x="1800987" y="1616964"/>
                </a:lnTo>
                <a:lnTo>
                  <a:pt x="1799542" y="1625236"/>
                </a:lnTo>
                <a:lnTo>
                  <a:pt x="1795049" y="1631426"/>
                </a:lnTo>
                <a:lnTo>
                  <a:pt x="1787270" y="1635305"/>
                </a:lnTo>
                <a:lnTo>
                  <a:pt x="1775968" y="1636649"/>
                </a:lnTo>
                <a:lnTo>
                  <a:pt x="1847403" y="1636649"/>
                </a:lnTo>
                <a:lnTo>
                  <a:pt x="1850389" y="1617726"/>
                </a:lnTo>
                <a:lnTo>
                  <a:pt x="1850389" y="1615186"/>
                </a:lnTo>
                <a:lnTo>
                  <a:pt x="1847555" y="1596517"/>
                </a:lnTo>
                <a:close/>
              </a:path>
              <a:path w="5154295" h="1972945">
                <a:moveTo>
                  <a:pt x="1629791" y="1558163"/>
                </a:moveTo>
                <a:lnTo>
                  <a:pt x="1451864" y="1558163"/>
                </a:lnTo>
                <a:lnTo>
                  <a:pt x="1451864" y="1729867"/>
                </a:lnTo>
                <a:lnTo>
                  <a:pt x="1499362" y="1729867"/>
                </a:lnTo>
                <a:lnTo>
                  <a:pt x="1499362" y="1596009"/>
                </a:lnTo>
                <a:lnTo>
                  <a:pt x="1629791" y="1596009"/>
                </a:lnTo>
                <a:lnTo>
                  <a:pt x="1629791" y="1558163"/>
                </a:lnTo>
                <a:close/>
              </a:path>
              <a:path w="5154295" h="1972945">
                <a:moveTo>
                  <a:pt x="1629791" y="1596009"/>
                </a:moveTo>
                <a:lnTo>
                  <a:pt x="1582293" y="1596009"/>
                </a:lnTo>
                <a:lnTo>
                  <a:pt x="1582293" y="1729867"/>
                </a:lnTo>
                <a:lnTo>
                  <a:pt x="1629791" y="1729867"/>
                </a:lnTo>
                <a:lnTo>
                  <a:pt x="1629791" y="1596009"/>
                </a:lnTo>
                <a:close/>
              </a:path>
              <a:path w="5154295" h="1972945">
                <a:moveTo>
                  <a:pt x="1598676" y="1448562"/>
                </a:moveTo>
                <a:lnTo>
                  <a:pt x="1551177" y="1448562"/>
                </a:lnTo>
                <a:lnTo>
                  <a:pt x="1551177" y="1468374"/>
                </a:lnTo>
                <a:lnTo>
                  <a:pt x="1598676" y="1468374"/>
                </a:lnTo>
                <a:lnTo>
                  <a:pt x="1598676" y="1448562"/>
                </a:lnTo>
                <a:close/>
              </a:path>
              <a:path w="5154295" h="1972945">
                <a:moveTo>
                  <a:pt x="1630299" y="1309751"/>
                </a:moveTo>
                <a:lnTo>
                  <a:pt x="1519555" y="1309751"/>
                </a:lnTo>
                <a:lnTo>
                  <a:pt x="1487714" y="1313404"/>
                </a:lnTo>
                <a:lnTo>
                  <a:pt x="1462079" y="1325070"/>
                </a:lnTo>
                <a:lnTo>
                  <a:pt x="1444999" y="1345809"/>
                </a:lnTo>
                <a:lnTo>
                  <a:pt x="1438783" y="1376680"/>
                </a:lnTo>
                <a:lnTo>
                  <a:pt x="1438808" y="1378712"/>
                </a:lnTo>
                <a:lnTo>
                  <a:pt x="1462358" y="1431766"/>
                </a:lnTo>
                <a:lnTo>
                  <a:pt x="1519936" y="1448562"/>
                </a:lnTo>
                <a:lnTo>
                  <a:pt x="1629918" y="1448562"/>
                </a:lnTo>
                <a:lnTo>
                  <a:pt x="1661886" y="1444450"/>
                </a:lnTo>
                <a:lnTo>
                  <a:pt x="1687639" y="1431766"/>
                </a:lnTo>
                <a:lnTo>
                  <a:pt x="1704043" y="1410970"/>
                </a:lnTo>
                <a:lnTo>
                  <a:pt x="1529461" y="1410970"/>
                </a:lnTo>
                <a:lnTo>
                  <a:pt x="1511794" y="1409197"/>
                </a:lnTo>
                <a:lnTo>
                  <a:pt x="1498806" y="1403556"/>
                </a:lnTo>
                <a:lnTo>
                  <a:pt x="1490795" y="1393557"/>
                </a:lnTo>
                <a:lnTo>
                  <a:pt x="1488058" y="1378712"/>
                </a:lnTo>
                <a:lnTo>
                  <a:pt x="1488085" y="1376680"/>
                </a:lnTo>
                <a:lnTo>
                  <a:pt x="1490849" y="1363650"/>
                </a:lnTo>
                <a:lnTo>
                  <a:pt x="1498949" y="1354518"/>
                </a:lnTo>
                <a:lnTo>
                  <a:pt x="1511954" y="1349196"/>
                </a:lnTo>
                <a:lnTo>
                  <a:pt x="1529461" y="1347470"/>
                </a:lnTo>
                <a:lnTo>
                  <a:pt x="1705179" y="1347470"/>
                </a:lnTo>
                <a:lnTo>
                  <a:pt x="1704844" y="1345809"/>
                </a:lnTo>
                <a:lnTo>
                  <a:pt x="1687734" y="1325070"/>
                </a:lnTo>
                <a:lnTo>
                  <a:pt x="1662100" y="1313404"/>
                </a:lnTo>
                <a:lnTo>
                  <a:pt x="1630299" y="1309751"/>
                </a:lnTo>
                <a:close/>
              </a:path>
              <a:path w="5154295" h="1972945">
                <a:moveTo>
                  <a:pt x="1598676" y="1347470"/>
                </a:moveTo>
                <a:lnTo>
                  <a:pt x="1551177" y="1347470"/>
                </a:lnTo>
                <a:lnTo>
                  <a:pt x="1551177" y="1410970"/>
                </a:lnTo>
                <a:lnTo>
                  <a:pt x="1598676" y="1410970"/>
                </a:lnTo>
                <a:lnTo>
                  <a:pt x="1598676" y="1347470"/>
                </a:lnTo>
                <a:close/>
              </a:path>
              <a:path w="5154295" h="1972945">
                <a:moveTo>
                  <a:pt x="1705179" y="1347470"/>
                </a:moveTo>
                <a:lnTo>
                  <a:pt x="1620393" y="1347470"/>
                </a:lnTo>
                <a:lnTo>
                  <a:pt x="1637825" y="1349196"/>
                </a:lnTo>
                <a:lnTo>
                  <a:pt x="1650793" y="1354518"/>
                </a:lnTo>
                <a:lnTo>
                  <a:pt x="1658879" y="1363650"/>
                </a:lnTo>
                <a:lnTo>
                  <a:pt x="1661641" y="1376680"/>
                </a:lnTo>
                <a:lnTo>
                  <a:pt x="1661668" y="1378712"/>
                </a:lnTo>
                <a:lnTo>
                  <a:pt x="1658951" y="1393557"/>
                </a:lnTo>
                <a:lnTo>
                  <a:pt x="1650984" y="1403556"/>
                </a:lnTo>
                <a:lnTo>
                  <a:pt x="1638040" y="1409197"/>
                </a:lnTo>
                <a:lnTo>
                  <a:pt x="1620393" y="1410970"/>
                </a:lnTo>
                <a:lnTo>
                  <a:pt x="1704043" y="1410970"/>
                </a:lnTo>
                <a:lnTo>
                  <a:pt x="1704820" y="1409985"/>
                </a:lnTo>
                <a:lnTo>
                  <a:pt x="1711045" y="1378712"/>
                </a:lnTo>
                <a:lnTo>
                  <a:pt x="1711070" y="1376680"/>
                </a:lnTo>
                <a:lnTo>
                  <a:pt x="1705179" y="1347470"/>
                </a:lnTo>
                <a:close/>
              </a:path>
              <a:path w="5154295" h="1972945">
                <a:moveTo>
                  <a:pt x="1598676" y="1291971"/>
                </a:moveTo>
                <a:lnTo>
                  <a:pt x="1551177" y="1291971"/>
                </a:lnTo>
                <a:lnTo>
                  <a:pt x="1551177" y="1309751"/>
                </a:lnTo>
                <a:lnTo>
                  <a:pt x="1598676" y="1309751"/>
                </a:lnTo>
                <a:lnTo>
                  <a:pt x="1598676" y="1291971"/>
                </a:lnTo>
                <a:close/>
              </a:path>
              <a:path w="5154295" h="1972945">
                <a:moveTo>
                  <a:pt x="1565656" y="881253"/>
                </a:moveTo>
                <a:lnTo>
                  <a:pt x="1459230" y="881253"/>
                </a:lnTo>
                <a:lnTo>
                  <a:pt x="1459230" y="1094486"/>
                </a:lnTo>
                <a:lnTo>
                  <a:pt x="1565656" y="1094486"/>
                </a:lnTo>
                <a:lnTo>
                  <a:pt x="1565656" y="881253"/>
                </a:lnTo>
                <a:close/>
              </a:path>
              <a:path w="5154295" h="1972945">
                <a:moveTo>
                  <a:pt x="1683639" y="800100"/>
                </a:moveTo>
                <a:lnTo>
                  <a:pt x="1341374" y="800100"/>
                </a:lnTo>
                <a:lnTo>
                  <a:pt x="1341374" y="881253"/>
                </a:lnTo>
                <a:lnTo>
                  <a:pt x="1683639" y="881253"/>
                </a:lnTo>
                <a:lnTo>
                  <a:pt x="1683639" y="800100"/>
                </a:lnTo>
                <a:close/>
              </a:path>
              <a:path w="5154295" h="1972945">
                <a:moveTo>
                  <a:pt x="2550033" y="800100"/>
                </a:moveTo>
                <a:lnTo>
                  <a:pt x="2443099" y="800100"/>
                </a:lnTo>
                <a:lnTo>
                  <a:pt x="2443099" y="1094486"/>
                </a:lnTo>
                <a:lnTo>
                  <a:pt x="2550033" y="1094486"/>
                </a:lnTo>
                <a:lnTo>
                  <a:pt x="2550033" y="982853"/>
                </a:lnTo>
                <a:lnTo>
                  <a:pt x="2805557" y="982853"/>
                </a:lnTo>
                <a:lnTo>
                  <a:pt x="2805557" y="903732"/>
                </a:lnTo>
                <a:lnTo>
                  <a:pt x="2550033" y="903732"/>
                </a:lnTo>
                <a:lnTo>
                  <a:pt x="2550033" y="800100"/>
                </a:lnTo>
                <a:close/>
              </a:path>
              <a:path w="5154295" h="1972945">
                <a:moveTo>
                  <a:pt x="2805557" y="982853"/>
                </a:moveTo>
                <a:lnTo>
                  <a:pt x="2699130" y="982853"/>
                </a:lnTo>
                <a:lnTo>
                  <a:pt x="2699130" y="1094486"/>
                </a:lnTo>
                <a:lnTo>
                  <a:pt x="2805557" y="1094486"/>
                </a:lnTo>
                <a:lnTo>
                  <a:pt x="2805557" y="982853"/>
                </a:lnTo>
                <a:close/>
              </a:path>
              <a:path w="5154295" h="1972945">
                <a:moveTo>
                  <a:pt x="2805557" y="800100"/>
                </a:moveTo>
                <a:lnTo>
                  <a:pt x="2699130" y="800100"/>
                </a:lnTo>
                <a:lnTo>
                  <a:pt x="2699130" y="903732"/>
                </a:lnTo>
                <a:lnTo>
                  <a:pt x="2805557" y="903732"/>
                </a:lnTo>
                <a:lnTo>
                  <a:pt x="2805557" y="800100"/>
                </a:lnTo>
                <a:close/>
              </a:path>
              <a:path w="5154295" h="1972945">
                <a:moveTo>
                  <a:pt x="2450211" y="1294511"/>
                </a:moveTo>
                <a:lnTo>
                  <a:pt x="2333879" y="1294511"/>
                </a:lnTo>
                <a:lnTo>
                  <a:pt x="2333879" y="1466088"/>
                </a:lnTo>
                <a:lnTo>
                  <a:pt x="2381377" y="1466088"/>
                </a:lnTo>
                <a:lnTo>
                  <a:pt x="2381377" y="1411097"/>
                </a:lnTo>
                <a:lnTo>
                  <a:pt x="2450211" y="1411097"/>
                </a:lnTo>
                <a:lnTo>
                  <a:pt x="2483860" y="1406739"/>
                </a:lnTo>
                <a:lnTo>
                  <a:pt x="2505757" y="1394714"/>
                </a:lnTo>
                <a:lnTo>
                  <a:pt x="2517630" y="1376592"/>
                </a:lnTo>
                <a:lnTo>
                  <a:pt x="2518217" y="1372870"/>
                </a:lnTo>
                <a:lnTo>
                  <a:pt x="2381377" y="1372870"/>
                </a:lnTo>
                <a:lnTo>
                  <a:pt x="2381377" y="1332611"/>
                </a:lnTo>
                <a:lnTo>
                  <a:pt x="2518361" y="1332611"/>
                </a:lnTo>
                <a:lnTo>
                  <a:pt x="2517805" y="1328928"/>
                </a:lnTo>
                <a:lnTo>
                  <a:pt x="2517737" y="1328479"/>
                </a:lnTo>
                <a:lnTo>
                  <a:pt x="2506043" y="1310481"/>
                </a:lnTo>
                <a:lnTo>
                  <a:pt x="2484181" y="1298721"/>
                </a:lnTo>
                <a:lnTo>
                  <a:pt x="2450211" y="1294511"/>
                </a:lnTo>
                <a:close/>
              </a:path>
              <a:path w="5154295" h="1972945">
                <a:moveTo>
                  <a:pt x="2649151" y="1294511"/>
                </a:moveTo>
                <a:lnTo>
                  <a:pt x="2585409" y="1294511"/>
                </a:lnTo>
                <a:lnTo>
                  <a:pt x="2509393" y="1466088"/>
                </a:lnTo>
                <a:lnTo>
                  <a:pt x="2557018" y="1466088"/>
                </a:lnTo>
                <a:lnTo>
                  <a:pt x="2570861" y="1434211"/>
                </a:lnTo>
                <a:lnTo>
                  <a:pt x="2713938" y="1434211"/>
                </a:lnTo>
                <a:lnTo>
                  <a:pt x="2697565" y="1398905"/>
                </a:lnTo>
                <a:lnTo>
                  <a:pt x="2586355" y="1398905"/>
                </a:lnTo>
                <a:lnTo>
                  <a:pt x="2616581" y="1328928"/>
                </a:lnTo>
                <a:lnTo>
                  <a:pt x="2665113" y="1328928"/>
                </a:lnTo>
                <a:lnTo>
                  <a:pt x="2649151" y="1294511"/>
                </a:lnTo>
                <a:close/>
              </a:path>
              <a:path w="5154295" h="1972945">
                <a:moveTo>
                  <a:pt x="2713938" y="1434211"/>
                </a:moveTo>
                <a:lnTo>
                  <a:pt x="2663698" y="1434211"/>
                </a:lnTo>
                <a:lnTo>
                  <a:pt x="2677795" y="1466088"/>
                </a:lnTo>
                <a:lnTo>
                  <a:pt x="2728722" y="1466088"/>
                </a:lnTo>
                <a:lnTo>
                  <a:pt x="2713938" y="1434211"/>
                </a:lnTo>
                <a:close/>
              </a:path>
              <a:path w="5154295" h="1972945">
                <a:moveTo>
                  <a:pt x="2665113" y="1328928"/>
                </a:moveTo>
                <a:lnTo>
                  <a:pt x="2616581" y="1328928"/>
                </a:lnTo>
                <a:lnTo>
                  <a:pt x="2647823" y="1398905"/>
                </a:lnTo>
                <a:lnTo>
                  <a:pt x="2697565" y="1398905"/>
                </a:lnTo>
                <a:lnTo>
                  <a:pt x="2665113" y="1328928"/>
                </a:lnTo>
                <a:close/>
              </a:path>
              <a:path w="5154295" h="1972945">
                <a:moveTo>
                  <a:pt x="2518361" y="1332611"/>
                </a:moveTo>
                <a:lnTo>
                  <a:pt x="2446782" y="1332611"/>
                </a:lnTo>
                <a:lnTo>
                  <a:pt x="2458104" y="1333990"/>
                </a:lnTo>
                <a:lnTo>
                  <a:pt x="2465927" y="1337929"/>
                </a:lnTo>
                <a:lnTo>
                  <a:pt x="2470463" y="1344130"/>
                </a:lnTo>
                <a:lnTo>
                  <a:pt x="2471928" y="1352296"/>
                </a:lnTo>
                <a:lnTo>
                  <a:pt x="2471928" y="1353185"/>
                </a:lnTo>
                <a:lnTo>
                  <a:pt x="2470463" y="1361404"/>
                </a:lnTo>
                <a:lnTo>
                  <a:pt x="2465927" y="1367599"/>
                </a:lnTo>
                <a:lnTo>
                  <a:pt x="2458104" y="1371508"/>
                </a:lnTo>
                <a:lnTo>
                  <a:pt x="2446782" y="1372870"/>
                </a:lnTo>
                <a:lnTo>
                  <a:pt x="2518217" y="1372870"/>
                </a:lnTo>
                <a:lnTo>
                  <a:pt x="2521204" y="1353947"/>
                </a:lnTo>
                <a:lnTo>
                  <a:pt x="2521204" y="1351407"/>
                </a:lnTo>
                <a:lnTo>
                  <a:pt x="2518361" y="1332611"/>
                </a:lnTo>
                <a:close/>
              </a:path>
              <a:path w="5154295" h="1972945">
                <a:moveTo>
                  <a:pt x="3050413" y="794893"/>
                </a:moveTo>
                <a:lnTo>
                  <a:pt x="3032633" y="794893"/>
                </a:lnTo>
                <a:lnTo>
                  <a:pt x="2964036" y="801449"/>
                </a:lnTo>
                <a:lnTo>
                  <a:pt x="2964237" y="801449"/>
                </a:lnTo>
                <a:lnTo>
                  <a:pt x="2913782" y="819112"/>
                </a:lnTo>
                <a:lnTo>
                  <a:pt x="2913909" y="819112"/>
                </a:lnTo>
                <a:lnTo>
                  <a:pt x="2879264" y="844724"/>
                </a:lnTo>
                <a:lnTo>
                  <a:pt x="2857532" y="875533"/>
                </a:lnTo>
                <a:lnTo>
                  <a:pt x="2846328" y="908472"/>
                </a:lnTo>
                <a:lnTo>
                  <a:pt x="2843149" y="940562"/>
                </a:lnTo>
                <a:lnTo>
                  <a:pt x="2843149" y="952373"/>
                </a:lnTo>
                <a:lnTo>
                  <a:pt x="2857476" y="1017288"/>
                </a:lnTo>
                <a:lnTo>
                  <a:pt x="2913911" y="1074782"/>
                </a:lnTo>
                <a:lnTo>
                  <a:pt x="2964225" y="1092843"/>
                </a:lnTo>
                <a:lnTo>
                  <a:pt x="3032633" y="1099566"/>
                </a:lnTo>
                <a:lnTo>
                  <a:pt x="3050413" y="1099566"/>
                </a:lnTo>
                <a:lnTo>
                  <a:pt x="3119129" y="1092843"/>
                </a:lnTo>
                <a:lnTo>
                  <a:pt x="3169529" y="1074782"/>
                </a:lnTo>
                <a:lnTo>
                  <a:pt x="3204209" y="1048543"/>
                </a:lnTo>
                <a:lnTo>
                  <a:pt x="3224991" y="1018413"/>
                </a:lnTo>
                <a:lnTo>
                  <a:pt x="3041777" y="1018413"/>
                </a:lnTo>
                <a:lnTo>
                  <a:pt x="2996928" y="1011420"/>
                </a:lnTo>
                <a:lnTo>
                  <a:pt x="2970450" y="993902"/>
                </a:lnTo>
                <a:lnTo>
                  <a:pt x="2957855" y="971049"/>
                </a:lnTo>
                <a:lnTo>
                  <a:pt x="2954654" y="948055"/>
                </a:lnTo>
                <a:lnTo>
                  <a:pt x="2954654" y="943737"/>
                </a:lnTo>
                <a:lnTo>
                  <a:pt x="2957742" y="920980"/>
                </a:lnTo>
                <a:lnTo>
                  <a:pt x="2970117" y="898652"/>
                </a:lnTo>
                <a:lnTo>
                  <a:pt x="2996445" y="881657"/>
                </a:lnTo>
                <a:lnTo>
                  <a:pt x="3041396" y="874903"/>
                </a:lnTo>
                <a:lnTo>
                  <a:pt x="3225121" y="874903"/>
                </a:lnTo>
                <a:lnTo>
                  <a:pt x="3204067" y="844867"/>
                </a:lnTo>
                <a:lnTo>
                  <a:pt x="3169360" y="819112"/>
                </a:lnTo>
                <a:lnTo>
                  <a:pt x="3118997" y="801449"/>
                </a:lnTo>
                <a:lnTo>
                  <a:pt x="3050413" y="794893"/>
                </a:lnTo>
                <a:close/>
              </a:path>
              <a:path w="5154295" h="1972945">
                <a:moveTo>
                  <a:pt x="3225121" y="874903"/>
                </a:moveTo>
                <a:lnTo>
                  <a:pt x="3041396" y="874903"/>
                </a:lnTo>
                <a:lnTo>
                  <a:pt x="3086332" y="881657"/>
                </a:lnTo>
                <a:lnTo>
                  <a:pt x="3112754" y="898652"/>
                </a:lnTo>
                <a:lnTo>
                  <a:pt x="3125245" y="920980"/>
                </a:lnTo>
                <a:lnTo>
                  <a:pt x="3128391" y="943737"/>
                </a:lnTo>
                <a:lnTo>
                  <a:pt x="3128391" y="948055"/>
                </a:lnTo>
                <a:lnTo>
                  <a:pt x="3125251" y="971049"/>
                </a:lnTo>
                <a:lnTo>
                  <a:pt x="3112801" y="993902"/>
                </a:lnTo>
                <a:lnTo>
                  <a:pt x="3086492" y="1011420"/>
                </a:lnTo>
                <a:lnTo>
                  <a:pt x="3041777" y="1018413"/>
                </a:lnTo>
                <a:lnTo>
                  <a:pt x="3224991" y="1018413"/>
                </a:lnTo>
                <a:lnTo>
                  <a:pt x="3225767" y="1017288"/>
                </a:lnTo>
                <a:lnTo>
                  <a:pt x="3236797" y="984178"/>
                </a:lnTo>
                <a:lnTo>
                  <a:pt x="3239897" y="952373"/>
                </a:lnTo>
                <a:lnTo>
                  <a:pt x="3239897" y="940562"/>
                </a:lnTo>
                <a:lnTo>
                  <a:pt x="3236770" y="908605"/>
                </a:lnTo>
                <a:lnTo>
                  <a:pt x="3225682" y="875702"/>
                </a:lnTo>
                <a:lnTo>
                  <a:pt x="3225121" y="874903"/>
                </a:lnTo>
                <a:close/>
              </a:path>
              <a:path w="5154295" h="1972945">
                <a:moveTo>
                  <a:pt x="2161032" y="800100"/>
                </a:moveTo>
                <a:lnTo>
                  <a:pt x="2028825" y="800100"/>
                </a:lnTo>
                <a:lnTo>
                  <a:pt x="2144014" y="941832"/>
                </a:lnTo>
                <a:lnTo>
                  <a:pt x="2024126" y="1094486"/>
                </a:lnTo>
                <a:lnTo>
                  <a:pt x="2149983" y="1094486"/>
                </a:lnTo>
                <a:lnTo>
                  <a:pt x="2224786" y="1000252"/>
                </a:lnTo>
                <a:lnTo>
                  <a:pt x="2353254" y="1000252"/>
                </a:lnTo>
                <a:lnTo>
                  <a:pt x="2307082" y="941832"/>
                </a:lnTo>
                <a:lnTo>
                  <a:pt x="2350789" y="886841"/>
                </a:lnTo>
                <a:lnTo>
                  <a:pt x="2229485" y="886841"/>
                </a:lnTo>
                <a:lnTo>
                  <a:pt x="2161032" y="800100"/>
                </a:lnTo>
                <a:close/>
              </a:path>
              <a:path w="5154295" h="1972945">
                <a:moveTo>
                  <a:pt x="2353254" y="1000252"/>
                </a:moveTo>
                <a:lnTo>
                  <a:pt x="2224786" y="1000252"/>
                </a:lnTo>
                <a:lnTo>
                  <a:pt x="2299970" y="1094486"/>
                </a:lnTo>
                <a:lnTo>
                  <a:pt x="2427732" y="1094486"/>
                </a:lnTo>
                <a:lnTo>
                  <a:pt x="2353254" y="1000252"/>
                </a:lnTo>
                <a:close/>
              </a:path>
              <a:path w="5154295" h="1972945">
                <a:moveTo>
                  <a:pt x="2419731" y="800100"/>
                </a:moveTo>
                <a:lnTo>
                  <a:pt x="2298319" y="800100"/>
                </a:lnTo>
                <a:lnTo>
                  <a:pt x="2229485" y="886841"/>
                </a:lnTo>
                <a:lnTo>
                  <a:pt x="2350789" y="886841"/>
                </a:lnTo>
                <a:lnTo>
                  <a:pt x="2419731" y="800100"/>
                </a:lnTo>
                <a:close/>
              </a:path>
              <a:path w="5154295" h="1972945">
                <a:moveTo>
                  <a:pt x="1888363" y="1294384"/>
                </a:moveTo>
                <a:lnTo>
                  <a:pt x="1731137" y="1294384"/>
                </a:lnTo>
                <a:lnTo>
                  <a:pt x="1731137" y="1466088"/>
                </a:lnTo>
                <a:lnTo>
                  <a:pt x="1889760" y="1466088"/>
                </a:lnTo>
                <a:lnTo>
                  <a:pt x="1889760" y="1428242"/>
                </a:lnTo>
                <a:lnTo>
                  <a:pt x="1778000" y="1428242"/>
                </a:lnTo>
                <a:lnTo>
                  <a:pt x="1778000" y="1398397"/>
                </a:lnTo>
                <a:lnTo>
                  <a:pt x="1884807" y="1398397"/>
                </a:lnTo>
                <a:lnTo>
                  <a:pt x="1884807" y="1359662"/>
                </a:lnTo>
                <a:lnTo>
                  <a:pt x="1778000" y="1359662"/>
                </a:lnTo>
                <a:lnTo>
                  <a:pt x="1778000" y="1331722"/>
                </a:lnTo>
                <a:lnTo>
                  <a:pt x="1888363" y="1331722"/>
                </a:lnTo>
                <a:lnTo>
                  <a:pt x="1888363" y="1294384"/>
                </a:lnTo>
                <a:close/>
              </a:path>
              <a:path w="5154295" h="1972945">
                <a:moveTo>
                  <a:pt x="2013204" y="800100"/>
                </a:moveTo>
                <a:lnTo>
                  <a:pt x="1719199" y="800100"/>
                </a:lnTo>
                <a:lnTo>
                  <a:pt x="1719199" y="1094486"/>
                </a:lnTo>
                <a:lnTo>
                  <a:pt x="2015998" y="1094486"/>
                </a:lnTo>
                <a:lnTo>
                  <a:pt x="2015998" y="1022477"/>
                </a:lnTo>
                <a:lnTo>
                  <a:pt x="1825625" y="1022477"/>
                </a:lnTo>
                <a:lnTo>
                  <a:pt x="1825625" y="982091"/>
                </a:lnTo>
                <a:lnTo>
                  <a:pt x="2007235" y="982091"/>
                </a:lnTo>
                <a:lnTo>
                  <a:pt x="2007235" y="908812"/>
                </a:lnTo>
                <a:lnTo>
                  <a:pt x="1825625" y="908812"/>
                </a:lnTo>
                <a:lnTo>
                  <a:pt x="1825625" y="871220"/>
                </a:lnTo>
                <a:lnTo>
                  <a:pt x="2013204" y="871220"/>
                </a:lnTo>
                <a:lnTo>
                  <a:pt x="2013204" y="800100"/>
                </a:lnTo>
                <a:close/>
              </a:path>
              <a:path w="5154295" h="1972945">
                <a:moveTo>
                  <a:pt x="2303653" y="1294384"/>
                </a:moveTo>
                <a:lnTo>
                  <a:pt x="2146554" y="1294384"/>
                </a:lnTo>
                <a:lnTo>
                  <a:pt x="2146554" y="1466088"/>
                </a:lnTo>
                <a:lnTo>
                  <a:pt x="2305050" y="1466088"/>
                </a:lnTo>
                <a:lnTo>
                  <a:pt x="2305050" y="1428242"/>
                </a:lnTo>
                <a:lnTo>
                  <a:pt x="2193417" y="1428242"/>
                </a:lnTo>
                <a:lnTo>
                  <a:pt x="2193417" y="1398397"/>
                </a:lnTo>
                <a:lnTo>
                  <a:pt x="2300224" y="1398397"/>
                </a:lnTo>
                <a:lnTo>
                  <a:pt x="2300224" y="1359662"/>
                </a:lnTo>
                <a:lnTo>
                  <a:pt x="2193417" y="1359662"/>
                </a:lnTo>
                <a:lnTo>
                  <a:pt x="2193417" y="1331722"/>
                </a:lnTo>
                <a:lnTo>
                  <a:pt x="2303653" y="1331722"/>
                </a:lnTo>
                <a:lnTo>
                  <a:pt x="2303653" y="1294384"/>
                </a:lnTo>
                <a:close/>
              </a:path>
              <a:path w="5154295" h="1972945">
                <a:moveTo>
                  <a:pt x="4900803" y="800100"/>
                </a:moveTo>
                <a:lnTo>
                  <a:pt x="4793996" y="800100"/>
                </a:lnTo>
                <a:lnTo>
                  <a:pt x="4793996" y="1094486"/>
                </a:lnTo>
                <a:lnTo>
                  <a:pt x="4900803" y="1094486"/>
                </a:lnTo>
                <a:lnTo>
                  <a:pt x="4997264" y="977646"/>
                </a:lnTo>
                <a:lnTo>
                  <a:pt x="4900803" y="977646"/>
                </a:lnTo>
                <a:lnTo>
                  <a:pt x="4900803" y="800100"/>
                </a:lnTo>
                <a:close/>
              </a:path>
              <a:path w="5154295" h="1972945">
                <a:moveTo>
                  <a:pt x="5153914" y="916813"/>
                </a:moveTo>
                <a:lnTo>
                  <a:pt x="5047488" y="916813"/>
                </a:lnTo>
                <a:lnTo>
                  <a:pt x="5047488" y="1094486"/>
                </a:lnTo>
                <a:lnTo>
                  <a:pt x="5153914" y="1094486"/>
                </a:lnTo>
                <a:lnTo>
                  <a:pt x="5153914" y="916813"/>
                </a:lnTo>
                <a:close/>
              </a:path>
              <a:path w="5154295" h="1972945">
                <a:moveTo>
                  <a:pt x="5153914" y="800100"/>
                </a:moveTo>
                <a:lnTo>
                  <a:pt x="5047488" y="800100"/>
                </a:lnTo>
                <a:lnTo>
                  <a:pt x="4900803" y="977646"/>
                </a:lnTo>
                <a:lnTo>
                  <a:pt x="4997264" y="977646"/>
                </a:lnTo>
                <a:lnTo>
                  <a:pt x="5047488" y="916813"/>
                </a:lnTo>
                <a:lnTo>
                  <a:pt x="5153914" y="916813"/>
                </a:lnTo>
                <a:lnTo>
                  <a:pt x="5153914" y="800100"/>
                </a:lnTo>
                <a:close/>
              </a:path>
              <a:path w="5154295" h="1972945">
                <a:moveTo>
                  <a:pt x="3726179" y="1294384"/>
                </a:moveTo>
                <a:lnTo>
                  <a:pt x="3678682" y="1294384"/>
                </a:lnTo>
                <a:lnTo>
                  <a:pt x="3678682" y="1466088"/>
                </a:lnTo>
                <a:lnTo>
                  <a:pt x="3726179" y="1466088"/>
                </a:lnTo>
                <a:lnTo>
                  <a:pt x="3775137" y="1409827"/>
                </a:lnTo>
                <a:lnTo>
                  <a:pt x="3726179" y="1409827"/>
                </a:lnTo>
                <a:lnTo>
                  <a:pt x="3726179" y="1294384"/>
                </a:lnTo>
                <a:close/>
              </a:path>
              <a:path w="5154295" h="1972945">
                <a:moveTo>
                  <a:pt x="3874135" y="1350645"/>
                </a:moveTo>
                <a:lnTo>
                  <a:pt x="3826637" y="1350645"/>
                </a:lnTo>
                <a:lnTo>
                  <a:pt x="3826637" y="1466088"/>
                </a:lnTo>
                <a:lnTo>
                  <a:pt x="3874135" y="1466088"/>
                </a:lnTo>
                <a:lnTo>
                  <a:pt x="3874135" y="1350645"/>
                </a:lnTo>
                <a:close/>
              </a:path>
              <a:path w="5154295" h="1972945">
                <a:moveTo>
                  <a:pt x="3874135" y="1294384"/>
                </a:moveTo>
                <a:lnTo>
                  <a:pt x="3826637" y="1294384"/>
                </a:lnTo>
                <a:lnTo>
                  <a:pt x="3726179" y="1409827"/>
                </a:lnTo>
                <a:lnTo>
                  <a:pt x="3775137" y="1409827"/>
                </a:lnTo>
                <a:lnTo>
                  <a:pt x="3826637" y="1350645"/>
                </a:lnTo>
                <a:lnTo>
                  <a:pt x="3874135" y="1350645"/>
                </a:lnTo>
                <a:lnTo>
                  <a:pt x="3874135" y="1294384"/>
                </a:lnTo>
                <a:close/>
              </a:path>
              <a:path w="5154295" h="1972945">
                <a:moveTo>
                  <a:pt x="3438779" y="1294384"/>
                </a:moveTo>
                <a:lnTo>
                  <a:pt x="3391280" y="1294384"/>
                </a:lnTo>
                <a:lnTo>
                  <a:pt x="3391280" y="1466088"/>
                </a:lnTo>
                <a:lnTo>
                  <a:pt x="3508755" y="1466088"/>
                </a:lnTo>
                <a:lnTo>
                  <a:pt x="3541871" y="1461710"/>
                </a:lnTo>
                <a:lnTo>
                  <a:pt x="3563461" y="1449641"/>
                </a:lnTo>
                <a:lnTo>
                  <a:pt x="3575192" y="1431476"/>
                </a:lnTo>
                <a:lnTo>
                  <a:pt x="3575698" y="1428242"/>
                </a:lnTo>
                <a:lnTo>
                  <a:pt x="3438779" y="1428242"/>
                </a:lnTo>
                <a:lnTo>
                  <a:pt x="3438779" y="1387602"/>
                </a:lnTo>
                <a:lnTo>
                  <a:pt x="3575880" y="1387602"/>
                </a:lnTo>
                <a:lnTo>
                  <a:pt x="3575300" y="1383778"/>
                </a:lnTo>
                <a:lnTo>
                  <a:pt x="3563747" y="1365837"/>
                </a:lnTo>
                <a:lnTo>
                  <a:pt x="3542192" y="1354016"/>
                </a:lnTo>
                <a:lnTo>
                  <a:pt x="3508755" y="1349756"/>
                </a:lnTo>
                <a:lnTo>
                  <a:pt x="3438779" y="1349756"/>
                </a:lnTo>
                <a:lnTo>
                  <a:pt x="3438779" y="1294384"/>
                </a:lnTo>
                <a:close/>
              </a:path>
              <a:path w="5154295" h="1972945">
                <a:moveTo>
                  <a:pt x="3575880" y="1387602"/>
                </a:moveTo>
                <a:lnTo>
                  <a:pt x="3505073" y="1387602"/>
                </a:lnTo>
                <a:lnTo>
                  <a:pt x="3515774" y="1388935"/>
                </a:lnTo>
                <a:lnTo>
                  <a:pt x="3523345" y="1392745"/>
                </a:lnTo>
                <a:lnTo>
                  <a:pt x="3527843" y="1398746"/>
                </a:lnTo>
                <a:lnTo>
                  <a:pt x="3529282" y="1406398"/>
                </a:lnTo>
                <a:lnTo>
                  <a:pt x="3529259" y="1408811"/>
                </a:lnTo>
                <a:lnTo>
                  <a:pt x="3527843" y="1416454"/>
                </a:lnTo>
                <a:lnTo>
                  <a:pt x="3523345" y="1422717"/>
                </a:lnTo>
                <a:lnTo>
                  <a:pt x="3515774" y="1426789"/>
                </a:lnTo>
                <a:lnTo>
                  <a:pt x="3505073" y="1428242"/>
                </a:lnTo>
                <a:lnTo>
                  <a:pt x="3575698" y="1428242"/>
                </a:lnTo>
                <a:lnTo>
                  <a:pt x="3578733" y="1408811"/>
                </a:lnTo>
                <a:lnTo>
                  <a:pt x="3578733" y="1406398"/>
                </a:lnTo>
                <a:lnTo>
                  <a:pt x="3575880" y="1387602"/>
                </a:lnTo>
                <a:close/>
              </a:path>
              <a:path w="5154295" h="1972945">
                <a:moveTo>
                  <a:pt x="3645408" y="1294384"/>
                </a:moveTo>
                <a:lnTo>
                  <a:pt x="3597910" y="1294384"/>
                </a:lnTo>
                <a:lnTo>
                  <a:pt x="3597910" y="1466088"/>
                </a:lnTo>
                <a:lnTo>
                  <a:pt x="3645408" y="1466088"/>
                </a:lnTo>
                <a:lnTo>
                  <a:pt x="3645408" y="1294384"/>
                </a:lnTo>
                <a:close/>
              </a:path>
              <a:path w="5154295" h="1972945">
                <a:moveTo>
                  <a:pt x="3614928" y="800100"/>
                </a:moveTo>
                <a:lnTo>
                  <a:pt x="3304413" y="800100"/>
                </a:lnTo>
                <a:lnTo>
                  <a:pt x="3304139" y="874522"/>
                </a:lnTo>
                <a:lnTo>
                  <a:pt x="3304097" y="885892"/>
                </a:lnTo>
                <a:lnTo>
                  <a:pt x="3302746" y="939609"/>
                </a:lnTo>
                <a:lnTo>
                  <a:pt x="3294507" y="988441"/>
                </a:lnTo>
                <a:lnTo>
                  <a:pt x="3259328" y="1010920"/>
                </a:lnTo>
                <a:lnTo>
                  <a:pt x="3252978" y="1010920"/>
                </a:lnTo>
                <a:lnTo>
                  <a:pt x="3252978" y="1094486"/>
                </a:lnTo>
                <a:lnTo>
                  <a:pt x="3286633" y="1094486"/>
                </a:lnTo>
                <a:lnTo>
                  <a:pt x="3326469" y="1090576"/>
                </a:lnTo>
                <a:lnTo>
                  <a:pt x="3376376" y="1060946"/>
                </a:lnTo>
                <a:lnTo>
                  <a:pt x="3397553" y="1009896"/>
                </a:lnTo>
                <a:lnTo>
                  <a:pt x="3405479" y="929806"/>
                </a:lnTo>
                <a:lnTo>
                  <a:pt x="3406394" y="874522"/>
                </a:lnTo>
                <a:lnTo>
                  <a:pt x="3614928" y="874522"/>
                </a:lnTo>
                <a:lnTo>
                  <a:pt x="3614928" y="800100"/>
                </a:lnTo>
                <a:close/>
              </a:path>
              <a:path w="5154295" h="1972945">
                <a:moveTo>
                  <a:pt x="3614928" y="874522"/>
                </a:moveTo>
                <a:lnTo>
                  <a:pt x="3508121" y="874522"/>
                </a:lnTo>
                <a:lnTo>
                  <a:pt x="3508121" y="1094486"/>
                </a:lnTo>
                <a:lnTo>
                  <a:pt x="3614928" y="1094486"/>
                </a:lnTo>
                <a:lnTo>
                  <a:pt x="3614928" y="874522"/>
                </a:lnTo>
                <a:close/>
              </a:path>
              <a:path w="5154295" h="1972945">
                <a:moveTo>
                  <a:pt x="4490085" y="800100"/>
                </a:moveTo>
                <a:lnTo>
                  <a:pt x="4383278" y="800100"/>
                </a:lnTo>
                <a:lnTo>
                  <a:pt x="4383278" y="1094486"/>
                </a:lnTo>
                <a:lnTo>
                  <a:pt x="4490085" y="1094486"/>
                </a:lnTo>
                <a:lnTo>
                  <a:pt x="4586525" y="977773"/>
                </a:lnTo>
                <a:lnTo>
                  <a:pt x="4490085" y="977773"/>
                </a:lnTo>
                <a:lnTo>
                  <a:pt x="4490085" y="800100"/>
                </a:lnTo>
                <a:close/>
              </a:path>
              <a:path w="5154295" h="1972945">
                <a:moveTo>
                  <a:pt x="4743323" y="916813"/>
                </a:moveTo>
                <a:lnTo>
                  <a:pt x="4636897" y="916813"/>
                </a:lnTo>
                <a:lnTo>
                  <a:pt x="4636897" y="1094486"/>
                </a:lnTo>
                <a:lnTo>
                  <a:pt x="4743323" y="1094486"/>
                </a:lnTo>
                <a:lnTo>
                  <a:pt x="4743323" y="916813"/>
                </a:lnTo>
                <a:close/>
              </a:path>
              <a:path w="5154295" h="1972945">
                <a:moveTo>
                  <a:pt x="4743323" y="800100"/>
                </a:moveTo>
                <a:lnTo>
                  <a:pt x="4636897" y="800100"/>
                </a:lnTo>
                <a:lnTo>
                  <a:pt x="4490085" y="977773"/>
                </a:lnTo>
                <a:lnTo>
                  <a:pt x="4586525" y="977773"/>
                </a:lnTo>
                <a:lnTo>
                  <a:pt x="4636897" y="916813"/>
                </a:lnTo>
                <a:lnTo>
                  <a:pt x="4743323" y="916813"/>
                </a:lnTo>
                <a:lnTo>
                  <a:pt x="4743323" y="800100"/>
                </a:lnTo>
                <a:close/>
              </a:path>
              <a:path w="5154295" h="1972945">
                <a:moveTo>
                  <a:pt x="4357624" y="800100"/>
                </a:moveTo>
                <a:lnTo>
                  <a:pt x="4086987" y="800100"/>
                </a:lnTo>
                <a:lnTo>
                  <a:pt x="4086987" y="1094486"/>
                </a:lnTo>
                <a:lnTo>
                  <a:pt x="4193794" y="1094486"/>
                </a:lnTo>
                <a:lnTo>
                  <a:pt x="4193794" y="874522"/>
                </a:lnTo>
                <a:lnTo>
                  <a:pt x="4357624" y="874522"/>
                </a:lnTo>
                <a:lnTo>
                  <a:pt x="4357624" y="800100"/>
                </a:lnTo>
                <a:close/>
              </a:path>
              <a:path w="5154295" h="1972945">
                <a:moveTo>
                  <a:pt x="3214878" y="1294384"/>
                </a:moveTo>
                <a:lnTo>
                  <a:pt x="3167253" y="1294384"/>
                </a:lnTo>
                <a:lnTo>
                  <a:pt x="3167253" y="1466088"/>
                </a:lnTo>
                <a:lnTo>
                  <a:pt x="3214878" y="1466088"/>
                </a:lnTo>
                <a:lnTo>
                  <a:pt x="3214878" y="1397000"/>
                </a:lnTo>
                <a:lnTo>
                  <a:pt x="3358134" y="1397000"/>
                </a:lnTo>
                <a:lnTo>
                  <a:pt x="3358134" y="1358011"/>
                </a:lnTo>
                <a:lnTo>
                  <a:pt x="3214878" y="1358011"/>
                </a:lnTo>
                <a:lnTo>
                  <a:pt x="3214878" y="1294384"/>
                </a:lnTo>
                <a:close/>
              </a:path>
              <a:path w="5154295" h="1972945">
                <a:moveTo>
                  <a:pt x="3358134" y="1397000"/>
                </a:moveTo>
                <a:lnTo>
                  <a:pt x="3310636" y="1397000"/>
                </a:lnTo>
                <a:lnTo>
                  <a:pt x="3310636" y="1466088"/>
                </a:lnTo>
                <a:lnTo>
                  <a:pt x="3358134" y="1466088"/>
                </a:lnTo>
                <a:lnTo>
                  <a:pt x="3358134" y="1397000"/>
                </a:lnTo>
                <a:close/>
              </a:path>
              <a:path w="5154295" h="1972945">
                <a:moveTo>
                  <a:pt x="3358134" y="1294384"/>
                </a:moveTo>
                <a:lnTo>
                  <a:pt x="3310636" y="1294384"/>
                </a:lnTo>
                <a:lnTo>
                  <a:pt x="3310636" y="1358011"/>
                </a:lnTo>
                <a:lnTo>
                  <a:pt x="3358134" y="1358011"/>
                </a:lnTo>
                <a:lnTo>
                  <a:pt x="3358134" y="1294384"/>
                </a:lnTo>
                <a:close/>
              </a:path>
              <a:path w="5154295" h="1972945">
                <a:moveTo>
                  <a:pt x="3859911" y="794893"/>
                </a:moveTo>
                <a:lnTo>
                  <a:pt x="3842004" y="794893"/>
                </a:lnTo>
                <a:lnTo>
                  <a:pt x="3773451" y="801449"/>
                </a:lnTo>
                <a:lnTo>
                  <a:pt x="3773653" y="801449"/>
                </a:lnTo>
                <a:lnTo>
                  <a:pt x="3723210" y="819112"/>
                </a:lnTo>
                <a:lnTo>
                  <a:pt x="3723337" y="819112"/>
                </a:lnTo>
                <a:lnTo>
                  <a:pt x="3688683" y="844724"/>
                </a:lnTo>
                <a:lnTo>
                  <a:pt x="3666932" y="875533"/>
                </a:lnTo>
                <a:lnTo>
                  <a:pt x="3655707" y="908472"/>
                </a:lnTo>
                <a:lnTo>
                  <a:pt x="3652520" y="940562"/>
                </a:lnTo>
                <a:lnTo>
                  <a:pt x="3652520" y="952373"/>
                </a:lnTo>
                <a:lnTo>
                  <a:pt x="3666847" y="1017288"/>
                </a:lnTo>
                <a:lnTo>
                  <a:pt x="3723282" y="1074782"/>
                </a:lnTo>
                <a:lnTo>
                  <a:pt x="3773596" y="1092843"/>
                </a:lnTo>
                <a:lnTo>
                  <a:pt x="3842004" y="1099566"/>
                </a:lnTo>
                <a:lnTo>
                  <a:pt x="3859911" y="1099566"/>
                </a:lnTo>
                <a:lnTo>
                  <a:pt x="3928627" y="1092843"/>
                </a:lnTo>
                <a:lnTo>
                  <a:pt x="3979027" y="1074782"/>
                </a:lnTo>
                <a:lnTo>
                  <a:pt x="4013707" y="1048543"/>
                </a:lnTo>
                <a:lnTo>
                  <a:pt x="4034489" y="1018413"/>
                </a:lnTo>
                <a:lnTo>
                  <a:pt x="3851148" y="1018413"/>
                </a:lnTo>
                <a:lnTo>
                  <a:pt x="3806372" y="1011420"/>
                </a:lnTo>
                <a:lnTo>
                  <a:pt x="3779932" y="993902"/>
                </a:lnTo>
                <a:lnTo>
                  <a:pt x="3767351" y="971049"/>
                </a:lnTo>
                <a:lnTo>
                  <a:pt x="3764153" y="948055"/>
                </a:lnTo>
                <a:lnTo>
                  <a:pt x="3764153" y="943737"/>
                </a:lnTo>
                <a:lnTo>
                  <a:pt x="3767220" y="920980"/>
                </a:lnTo>
                <a:lnTo>
                  <a:pt x="3779551" y="898652"/>
                </a:lnTo>
                <a:lnTo>
                  <a:pt x="3805836" y="881657"/>
                </a:lnTo>
                <a:lnTo>
                  <a:pt x="3850766" y="874903"/>
                </a:lnTo>
                <a:lnTo>
                  <a:pt x="4034591" y="874903"/>
                </a:lnTo>
                <a:lnTo>
                  <a:pt x="4013517" y="844867"/>
                </a:lnTo>
                <a:lnTo>
                  <a:pt x="3978801" y="819112"/>
                </a:lnTo>
                <a:lnTo>
                  <a:pt x="3928451" y="801449"/>
                </a:lnTo>
                <a:lnTo>
                  <a:pt x="3859911" y="794893"/>
                </a:lnTo>
                <a:close/>
              </a:path>
              <a:path w="5154295" h="1972945">
                <a:moveTo>
                  <a:pt x="4034591" y="874903"/>
                </a:moveTo>
                <a:lnTo>
                  <a:pt x="3850766" y="874903"/>
                </a:lnTo>
                <a:lnTo>
                  <a:pt x="3895756" y="881657"/>
                </a:lnTo>
                <a:lnTo>
                  <a:pt x="3922172" y="898652"/>
                </a:lnTo>
                <a:lnTo>
                  <a:pt x="3934634" y="920980"/>
                </a:lnTo>
                <a:lnTo>
                  <a:pt x="3937762" y="943737"/>
                </a:lnTo>
                <a:lnTo>
                  <a:pt x="3937762" y="948055"/>
                </a:lnTo>
                <a:lnTo>
                  <a:pt x="3934640" y="971049"/>
                </a:lnTo>
                <a:lnTo>
                  <a:pt x="3922220" y="993902"/>
                </a:lnTo>
                <a:lnTo>
                  <a:pt x="3895917" y="1011420"/>
                </a:lnTo>
                <a:lnTo>
                  <a:pt x="3851148" y="1018413"/>
                </a:lnTo>
                <a:lnTo>
                  <a:pt x="4034489" y="1018413"/>
                </a:lnTo>
                <a:lnTo>
                  <a:pt x="4035265" y="1017288"/>
                </a:lnTo>
                <a:lnTo>
                  <a:pt x="4046295" y="984178"/>
                </a:lnTo>
                <a:lnTo>
                  <a:pt x="4049395" y="952373"/>
                </a:lnTo>
                <a:lnTo>
                  <a:pt x="4049395" y="940562"/>
                </a:lnTo>
                <a:lnTo>
                  <a:pt x="4046259" y="908605"/>
                </a:lnTo>
                <a:lnTo>
                  <a:pt x="4035152" y="875702"/>
                </a:lnTo>
                <a:lnTo>
                  <a:pt x="4034591" y="874903"/>
                </a:lnTo>
                <a:close/>
              </a:path>
              <a:path w="5154295" h="1972945">
                <a:moveTo>
                  <a:pt x="3760978" y="1243838"/>
                </a:moveTo>
                <a:lnTo>
                  <a:pt x="3727323" y="1243838"/>
                </a:lnTo>
                <a:lnTo>
                  <a:pt x="3727323" y="1244473"/>
                </a:lnTo>
                <a:lnTo>
                  <a:pt x="3729036" y="1255337"/>
                </a:lnTo>
                <a:lnTo>
                  <a:pt x="3735531" y="1267475"/>
                </a:lnTo>
                <a:lnTo>
                  <a:pt x="3748905" y="1277352"/>
                </a:lnTo>
                <a:lnTo>
                  <a:pt x="3771138" y="1281430"/>
                </a:lnTo>
                <a:lnTo>
                  <a:pt x="3778123" y="1281430"/>
                </a:lnTo>
                <a:lnTo>
                  <a:pt x="3798980" y="1277352"/>
                </a:lnTo>
                <a:lnTo>
                  <a:pt x="3812301" y="1267475"/>
                </a:lnTo>
                <a:lnTo>
                  <a:pt x="3818957" y="1256030"/>
                </a:lnTo>
                <a:lnTo>
                  <a:pt x="3763264" y="1256030"/>
                </a:lnTo>
                <a:lnTo>
                  <a:pt x="3761613" y="1247521"/>
                </a:lnTo>
                <a:lnTo>
                  <a:pt x="3761087" y="1244473"/>
                </a:lnTo>
                <a:lnTo>
                  <a:pt x="3760978" y="1243838"/>
                </a:lnTo>
                <a:close/>
              </a:path>
              <a:path w="5154295" h="1972945">
                <a:moveTo>
                  <a:pt x="3821429" y="1243838"/>
                </a:moveTo>
                <a:lnTo>
                  <a:pt x="3788029" y="1243838"/>
                </a:lnTo>
                <a:lnTo>
                  <a:pt x="3787266" y="1247521"/>
                </a:lnTo>
                <a:lnTo>
                  <a:pt x="3785616" y="1256030"/>
                </a:lnTo>
                <a:lnTo>
                  <a:pt x="3818957" y="1256030"/>
                </a:lnTo>
                <a:lnTo>
                  <a:pt x="3819360" y="1255337"/>
                </a:lnTo>
                <a:lnTo>
                  <a:pt x="3821429" y="1244473"/>
                </a:lnTo>
                <a:lnTo>
                  <a:pt x="3821429" y="1243838"/>
                </a:lnTo>
                <a:close/>
              </a:path>
              <a:path w="5154295" h="1972945">
                <a:moveTo>
                  <a:pt x="2128774" y="1428242"/>
                </a:moveTo>
                <a:lnTo>
                  <a:pt x="1900682" y="1428242"/>
                </a:lnTo>
                <a:lnTo>
                  <a:pt x="1900682" y="1494917"/>
                </a:lnTo>
                <a:lnTo>
                  <a:pt x="1945894" y="1494917"/>
                </a:lnTo>
                <a:lnTo>
                  <a:pt x="1945894" y="1466088"/>
                </a:lnTo>
                <a:lnTo>
                  <a:pt x="2128774" y="1466088"/>
                </a:lnTo>
                <a:lnTo>
                  <a:pt x="2128774" y="1428242"/>
                </a:lnTo>
                <a:close/>
              </a:path>
              <a:path w="5154295" h="1972945">
                <a:moveTo>
                  <a:pt x="2128774" y="1466088"/>
                </a:moveTo>
                <a:lnTo>
                  <a:pt x="2083562" y="1466088"/>
                </a:lnTo>
                <a:lnTo>
                  <a:pt x="2083562" y="1494917"/>
                </a:lnTo>
                <a:lnTo>
                  <a:pt x="2128774" y="1494917"/>
                </a:lnTo>
                <a:lnTo>
                  <a:pt x="2128774" y="1466088"/>
                </a:lnTo>
                <a:close/>
              </a:path>
              <a:path w="5154295" h="1972945">
                <a:moveTo>
                  <a:pt x="2101088" y="1294384"/>
                </a:moveTo>
                <a:lnTo>
                  <a:pt x="1937131" y="1294384"/>
                </a:lnTo>
                <a:lnTo>
                  <a:pt x="1935797" y="1346142"/>
                </a:lnTo>
                <a:lnTo>
                  <a:pt x="1931987" y="1383363"/>
                </a:lnTo>
                <a:lnTo>
                  <a:pt x="1925986" y="1409559"/>
                </a:lnTo>
                <a:lnTo>
                  <a:pt x="1918081" y="1428242"/>
                </a:lnTo>
                <a:lnTo>
                  <a:pt x="1966214" y="1428242"/>
                </a:lnTo>
                <a:lnTo>
                  <a:pt x="1972163" y="1412865"/>
                </a:lnTo>
                <a:lnTo>
                  <a:pt x="1977326" y="1391618"/>
                </a:lnTo>
                <a:lnTo>
                  <a:pt x="1980965" y="1364680"/>
                </a:lnTo>
                <a:lnTo>
                  <a:pt x="1982343" y="1332230"/>
                </a:lnTo>
                <a:lnTo>
                  <a:pt x="2101088" y="1332230"/>
                </a:lnTo>
                <a:lnTo>
                  <a:pt x="2101088" y="1294384"/>
                </a:lnTo>
                <a:close/>
              </a:path>
              <a:path w="5154295" h="1972945">
                <a:moveTo>
                  <a:pt x="2101088" y="1332230"/>
                </a:moveTo>
                <a:lnTo>
                  <a:pt x="2053463" y="1332230"/>
                </a:lnTo>
                <a:lnTo>
                  <a:pt x="2053463" y="1428242"/>
                </a:lnTo>
                <a:lnTo>
                  <a:pt x="2101088" y="1428242"/>
                </a:lnTo>
                <a:lnTo>
                  <a:pt x="2101088" y="1332230"/>
                </a:lnTo>
                <a:close/>
              </a:path>
              <a:path w="5154295" h="1972945">
                <a:moveTo>
                  <a:pt x="2343785" y="1558163"/>
                </a:moveTo>
                <a:lnTo>
                  <a:pt x="2296287" y="1558163"/>
                </a:lnTo>
                <a:lnTo>
                  <a:pt x="2296287" y="1729867"/>
                </a:lnTo>
                <a:lnTo>
                  <a:pt x="2343785" y="1729867"/>
                </a:lnTo>
                <a:lnTo>
                  <a:pt x="2343785" y="1648968"/>
                </a:lnTo>
                <a:lnTo>
                  <a:pt x="2406562" y="1648968"/>
                </a:lnTo>
                <a:lnTo>
                  <a:pt x="2394204" y="1636776"/>
                </a:lnTo>
                <a:lnTo>
                  <a:pt x="2403407" y="1628775"/>
                </a:lnTo>
                <a:lnTo>
                  <a:pt x="2343785" y="1628775"/>
                </a:lnTo>
                <a:lnTo>
                  <a:pt x="2343785" y="1558163"/>
                </a:lnTo>
                <a:close/>
              </a:path>
              <a:path w="5154295" h="1972945">
                <a:moveTo>
                  <a:pt x="2406562" y="1648968"/>
                </a:moveTo>
                <a:lnTo>
                  <a:pt x="2343785" y="1648968"/>
                </a:lnTo>
                <a:lnTo>
                  <a:pt x="2426462" y="1729867"/>
                </a:lnTo>
                <a:lnTo>
                  <a:pt x="2488565" y="1729867"/>
                </a:lnTo>
                <a:lnTo>
                  <a:pt x="2406562" y="1648968"/>
                </a:lnTo>
                <a:close/>
              </a:path>
              <a:path w="5154295" h="1972945">
                <a:moveTo>
                  <a:pt x="2599817" y="1597406"/>
                </a:moveTo>
                <a:lnTo>
                  <a:pt x="2552446" y="1597406"/>
                </a:lnTo>
                <a:lnTo>
                  <a:pt x="2552446" y="1729867"/>
                </a:lnTo>
                <a:lnTo>
                  <a:pt x="2599817" y="1729867"/>
                </a:lnTo>
                <a:lnTo>
                  <a:pt x="2599817" y="1597406"/>
                </a:lnTo>
                <a:close/>
              </a:path>
              <a:path w="5154295" h="1972945">
                <a:moveTo>
                  <a:pt x="2484628" y="1558163"/>
                </a:moveTo>
                <a:lnTo>
                  <a:pt x="2424176" y="1558163"/>
                </a:lnTo>
                <a:lnTo>
                  <a:pt x="2343785" y="1628775"/>
                </a:lnTo>
                <a:lnTo>
                  <a:pt x="2403407" y="1628775"/>
                </a:lnTo>
                <a:lnTo>
                  <a:pt x="2484628" y="1558163"/>
                </a:lnTo>
                <a:close/>
              </a:path>
              <a:path w="5154295" h="1972945">
                <a:moveTo>
                  <a:pt x="2666238" y="1558163"/>
                </a:moveTo>
                <a:lnTo>
                  <a:pt x="2486025" y="1558163"/>
                </a:lnTo>
                <a:lnTo>
                  <a:pt x="2486025" y="1597406"/>
                </a:lnTo>
                <a:lnTo>
                  <a:pt x="2666238" y="1597406"/>
                </a:lnTo>
                <a:lnTo>
                  <a:pt x="2666238" y="1558163"/>
                </a:lnTo>
                <a:close/>
              </a:path>
              <a:path w="5154295" h="1972945">
                <a:moveTo>
                  <a:pt x="2266061" y="1558163"/>
                </a:moveTo>
                <a:lnTo>
                  <a:pt x="2108962" y="1558163"/>
                </a:lnTo>
                <a:lnTo>
                  <a:pt x="2108962" y="1729867"/>
                </a:lnTo>
                <a:lnTo>
                  <a:pt x="2267458" y="1729867"/>
                </a:lnTo>
                <a:lnTo>
                  <a:pt x="2267458" y="1692021"/>
                </a:lnTo>
                <a:lnTo>
                  <a:pt x="2155698" y="1692021"/>
                </a:lnTo>
                <a:lnTo>
                  <a:pt x="2155698" y="1662176"/>
                </a:lnTo>
                <a:lnTo>
                  <a:pt x="2262505" y="1662176"/>
                </a:lnTo>
                <a:lnTo>
                  <a:pt x="2262505" y="1623441"/>
                </a:lnTo>
                <a:lnTo>
                  <a:pt x="2155698" y="1623441"/>
                </a:lnTo>
                <a:lnTo>
                  <a:pt x="2155698" y="1595628"/>
                </a:lnTo>
                <a:lnTo>
                  <a:pt x="2266061" y="1595628"/>
                </a:lnTo>
                <a:lnTo>
                  <a:pt x="2266061" y="1558163"/>
                </a:lnTo>
                <a:close/>
              </a:path>
              <a:path w="5154295" h="1972945">
                <a:moveTo>
                  <a:pt x="1980057" y="1555369"/>
                </a:moveTo>
                <a:lnTo>
                  <a:pt x="1969897" y="1555369"/>
                </a:lnTo>
                <a:lnTo>
                  <a:pt x="1919922" y="1563336"/>
                </a:lnTo>
                <a:lnTo>
                  <a:pt x="1888236" y="1583674"/>
                </a:lnTo>
                <a:lnTo>
                  <a:pt x="1871599" y="1611036"/>
                </a:lnTo>
                <a:lnTo>
                  <a:pt x="1866773" y="1640078"/>
                </a:lnTo>
                <a:lnTo>
                  <a:pt x="1866773" y="1646936"/>
                </a:lnTo>
                <a:lnTo>
                  <a:pt x="1871599" y="1675901"/>
                </a:lnTo>
                <a:lnTo>
                  <a:pt x="1888236" y="1703593"/>
                </a:lnTo>
                <a:lnTo>
                  <a:pt x="1919922" y="1724356"/>
                </a:lnTo>
                <a:lnTo>
                  <a:pt x="1969897" y="1732534"/>
                </a:lnTo>
                <a:lnTo>
                  <a:pt x="1980057" y="1732534"/>
                </a:lnTo>
                <a:lnTo>
                  <a:pt x="2029976" y="1724356"/>
                </a:lnTo>
                <a:lnTo>
                  <a:pt x="2061693" y="1703593"/>
                </a:lnTo>
                <a:lnTo>
                  <a:pt x="2067990" y="1693164"/>
                </a:lnTo>
                <a:lnTo>
                  <a:pt x="1974977" y="1693164"/>
                </a:lnTo>
                <a:lnTo>
                  <a:pt x="1945429" y="1688592"/>
                </a:lnTo>
                <a:lnTo>
                  <a:pt x="1927479" y="1676971"/>
                </a:lnTo>
                <a:lnTo>
                  <a:pt x="1918577" y="1661445"/>
                </a:lnTo>
                <a:lnTo>
                  <a:pt x="1916176" y="1645158"/>
                </a:lnTo>
                <a:lnTo>
                  <a:pt x="1916176" y="1641856"/>
                </a:lnTo>
                <a:lnTo>
                  <a:pt x="1918612" y="1625526"/>
                </a:lnTo>
                <a:lnTo>
                  <a:pt x="1927574" y="1610280"/>
                </a:lnTo>
                <a:lnTo>
                  <a:pt x="1945536" y="1599011"/>
                </a:lnTo>
                <a:lnTo>
                  <a:pt x="1974977" y="1594612"/>
                </a:lnTo>
                <a:lnTo>
                  <a:pt x="2068464" y="1594612"/>
                </a:lnTo>
                <a:lnTo>
                  <a:pt x="2061823" y="1583674"/>
                </a:lnTo>
                <a:lnTo>
                  <a:pt x="2030140" y="1563336"/>
                </a:lnTo>
                <a:lnTo>
                  <a:pt x="2030310" y="1563336"/>
                </a:lnTo>
                <a:lnTo>
                  <a:pt x="1980057" y="1555369"/>
                </a:lnTo>
                <a:close/>
              </a:path>
              <a:path w="5154295" h="1972945">
                <a:moveTo>
                  <a:pt x="2068464" y="1594612"/>
                </a:moveTo>
                <a:lnTo>
                  <a:pt x="1974977" y="1594612"/>
                </a:lnTo>
                <a:lnTo>
                  <a:pt x="2004437" y="1599011"/>
                </a:lnTo>
                <a:lnTo>
                  <a:pt x="2022443" y="1610280"/>
                </a:lnTo>
                <a:lnTo>
                  <a:pt x="2031448" y="1625526"/>
                </a:lnTo>
                <a:lnTo>
                  <a:pt x="2033905" y="1641856"/>
                </a:lnTo>
                <a:lnTo>
                  <a:pt x="2033905" y="1645158"/>
                </a:lnTo>
                <a:lnTo>
                  <a:pt x="2004482" y="1688592"/>
                </a:lnTo>
                <a:lnTo>
                  <a:pt x="1974977" y="1693164"/>
                </a:lnTo>
                <a:lnTo>
                  <a:pt x="2067990" y="1693164"/>
                </a:lnTo>
                <a:lnTo>
                  <a:pt x="2078340" y="1675901"/>
                </a:lnTo>
                <a:lnTo>
                  <a:pt x="2083181" y="1646936"/>
                </a:lnTo>
                <a:lnTo>
                  <a:pt x="2083181" y="1640078"/>
                </a:lnTo>
                <a:lnTo>
                  <a:pt x="2078390" y="1611036"/>
                </a:lnTo>
                <a:lnTo>
                  <a:pt x="2077978" y="1610280"/>
                </a:lnTo>
                <a:lnTo>
                  <a:pt x="2068464" y="1594612"/>
                </a:lnTo>
                <a:close/>
              </a:path>
              <a:path w="5154295" h="1972945">
                <a:moveTo>
                  <a:pt x="2926461" y="1294384"/>
                </a:moveTo>
                <a:lnTo>
                  <a:pt x="2760091" y="1294384"/>
                </a:lnTo>
                <a:lnTo>
                  <a:pt x="2759916" y="1332230"/>
                </a:lnTo>
                <a:lnTo>
                  <a:pt x="2759840" y="1348747"/>
                </a:lnTo>
                <a:lnTo>
                  <a:pt x="2757197" y="1401183"/>
                </a:lnTo>
                <a:lnTo>
                  <a:pt x="2731770" y="1425702"/>
                </a:lnTo>
                <a:lnTo>
                  <a:pt x="2730119" y="1425702"/>
                </a:lnTo>
                <a:lnTo>
                  <a:pt x="2730119" y="1466088"/>
                </a:lnTo>
                <a:lnTo>
                  <a:pt x="2747264" y="1466088"/>
                </a:lnTo>
                <a:lnTo>
                  <a:pt x="2768649" y="1463311"/>
                </a:lnTo>
                <a:lnTo>
                  <a:pt x="2796921" y="1433576"/>
                </a:lnTo>
                <a:lnTo>
                  <a:pt x="2803382" y="1393475"/>
                </a:lnTo>
                <a:lnTo>
                  <a:pt x="2805176" y="1332230"/>
                </a:lnTo>
                <a:lnTo>
                  <a:pt x="2926461" y="1332230"/>
                </a:lnTo>
                <a:lnTo>
                  <a:pt x="2926461" y="1294384"/>
                </a:lnTo>
                <a:close/>
              </a:path>
              <a:path w="5154295" h="1972945">
                <a:moveTo>
                  <a:pt x="2926461" y="1332230"/>
                </a:moveTo>
                <a:lnTo>
                  <a:pt x="2878963" y="1332230"/>
                </a:lnTo>
                <a:lnTo>
                  <a:pt x="2878963" y="1466088"/>
                </a:lnTo>
                <a:lnTo>
                  <a:pt x="2926461" y="1466088"/>
                </a:lnTo>
                <a:lnTo>
                  <a:pt x="2926461" y="1332230"/>
                </a:lnTo>
                <a:close/>
              </a:path>
              <a:path w="5154295" h="1972945">
                <a:moveTo>
                  <a:pt x="3007360" y="1294384"/>
                </a:moveTo>
                <a:lnTo>
                  <a:pt x="2959735" y="1294384"/>
                </a:lnTo>
                <a:lnTo>
                  <a:pt x="2959735" y="1466088"/>
                </a:lnTo>
                <a:lnTo>
                  <a:pt x="3077210" y="1466088"/>
                </a:lnTo>
                <a:lnTo>
                  <a:pt x="3110378" y="1461710"/>
                </a:lnTo>
                <a:lnTo>
                  <a:pt x="3131962" y="1449641"/>
                </a:lnTo>
                <a:lnTo>
                  <a:pt x="3143664" y="1431476"/>
                </a:lnTo>
                <a:lnTo>
                  <a:pt x="3144167" y="1428242"/>
                </a:lnTo>
                <a:lnTo>
                  <a:pt x="3007360" y="1428242"/>
                </a:lnTo>
                <a:lnTo>
                  <a:pt x="3007360" y="1387602"/>
                </a:lnTo>
                <a:lnTo>
                  <a:pt x="3144334" y="1387602"/>
                </a:lnTo>
                <a:lnTo>
                  <a:pt x="3143754" y="1383778"/>
                </a:lnTo>
                <a:lnTo>
                  <a:pt x="3132201" y="1365837"/>
                </a:lnTo>
                <a:lnTo>
                  <a:pt x="3110646" y="1354016"/>
                </a:lnTo>
                <a:lnTo>
                  <a:pt x="3077210" y="1349756"/>
                </a:lnTo>
                <a:lnTo>
                  <a:pt x="3007360" y="1349756"/>
                </a:lnTo>
                <a:lnTo>
                  <a:pt x="3007360" y="1294384"/>
                </a:lnTo>
                <a:close/>
              </a:path>
              <a:path w="5154295" h="1972945">
                <a:moveTo>
                  <a:pt x="3144334" y="1387602"/>
                </a:moveTo>
                <a:lnTo>
                  <a:pt x="3073527" y="1387602"/>
                </a:lnTo>
                <a:lnTo>
                  <a:pt x="3084228" y="1388935"/>
                </a:lnTo>
                <a:lnTo>
                  <a:pt x="3091799" y="1392745"/>
                </a:lnTo>
                <a:lnTo>
                  <a:pt x="3096297" y="1398746"/>
                </a:lnTo>
                <a:lnTo>
                  <a:pt x="3097736" y="1406398"/>
                </a:lnTo>
                <a:lnTo>
                  <a:pt x="3097713" y="1408811"/>
                </a:lnTo>
                <a:lnTo>
                  <a:pt x="3096297" y="1416454"/>
                </a:lnTo>
                <a:lnTo>
                  <a:pt x="3091799" y="1422717"/>
                </a:lnTo>
                <a:lnTo>
                  <a:pt x="3084228" y="1426789"/>
                </a:lnTo>
                <a:lnTo>
                  <a:pt x="3073527" y="1428242"/>
                </a:lnTo>
                <a:lnTo>
                  <a:pt x="3144167" y="1428242"/>
                </a:lnTo>
                <a:lnTo>
                  <a:pt x="3147187" y="1408811"/>
                </a:lnTo>
                <a:lnTo>
                  <a:pt x="3147187" y="1406398"/>
                </a:lnTo>
                <a:lnTo>
                  <a:pt x="3144334" y="1387602"/>
                </a:lnTo>
                <a:close/>
              </a:path>
              <a:path w="5154295" h="1972945">
                <a:moveTo>
                  <a:pt x="1075055" y="823087"/>
                </a:moveTo>
                <a:lnTo>
                  <a:pt x="644474" y="823087"/>
                </a:lnTo>
                <a:lnTo>
                  <a:pt x="644474" y="1733550"/>
                </a:lnTo>
                <a:lnTo>
                  <a:pt x="1075055" y="1972564"/>
                </a:lnTo>
                <a:lnTo>
                  <a:pt x="1075055" y="823087"/>
                </a:lnTo>
                <a:close/>
              </a:path>
              <a:path w="5154295" h="1972945">
                <a:moveTo>
                  <a:pt x="661797" y="337312"/>
                </a:moveTo>
                <a:lnTo>
                  <a:pt x="0" y="719328"/>
                </a:lnTo>
                <a:lnTo>
                  <a:pt x="411276" y="956818"/>
                </a:lnTo>
                <a:lnTo>
                  <a:pt x="644474" y="823087"/>
                </a:lnTo>
                <a:lnTo>
                  <a:pt x="1075055" y="823087"/>
                </a:lnTo>
                <a:lnTo>
                  <a:pt x="1075055" y="576326"/>
                </a:lnTo>
                <a:lnTo>
                  <a:pt x="661797" y="337312"/>
                </a:lnTo>
                <a:close/>
              </a:path>
              <a:path w="5154295" h="1972945">
                <a:moveTo>
                  <a:pt x="1245997" y="0"/>
                </a:moveTo>
                <a:lnTo>
                  <a:pt x="730504" y="297561"/>
                </a:lnTo>
                <a:lnTo>
                  <a:pt x="1141857" y="535051"/>
                </a:lnTo>
                <a:lnTo>
                  <a:pt x="1659382" y="238887"/>
                </a:lnTo>
                <a:lnTo>
                  <a:pt x="1245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642083" y="0"/>
            <a:ext cx="11604625" cy="6858000"/>
            <a:chOff x="587375" y="0"/>
            <a:chExt cx="11604625" cy="6858000"/>
          </a:xfrm>
        </p:grpSpPr>
        <p:sp>
          <p:nvSpPr>
            <p:cNvPr id="4" name="object 4"/>
            <p:cNvSpPr/>
            <p:nvPr/>
          </p:nvSpPr>
          <p:spPr>
            <a:xfrm>
              <a:off x="587375" y="1257300"/>
              <a:ext cx="11604625" cy="0"/>
            </a:xfrm>
            <a:custGeom>
              <a:avLst/>
              <a:gdLst/>
              <a:ahLst/>
              <a:cxnLst/>
              <a:rect l="l" t="t" r="r" b="b"/>
              <a:pathLst>
                <a:path w="11604625">
                  <a:moveTo>
                    <a:pt x="0" y="0"/>
                  </a:moveTo>
                  <a:lnTo>
                    <a:pt x="116046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4625" y="0"/>
              <a:ext cx="12700" cy="6858000"/>
            </a:xfrm>
            <a:custGeom>
              <a:avLst/>
              <a:gdLst/>
              <a:ahLst/>
              <a:cxnLst/>
              <a:rect l="l" t="t" r="r" b="b"/>
              <a:pathLst>
                <a:path w="12700" h="6858000">
                  <a:moveTo>
                    <a:pt x="127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700" y="68580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3167" y="584595"/>
              <a:ext cx="635487" cy="4943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8968" y="679951"/>
              <a:ext cx="1466588" cy="3210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696" y="605735"/>
              <a:ext cx="411489" cy="45778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7452" y="682035"/>
              <a:ext cx="1475573" cy="350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7086" y="631914"/>
              <a:ext cx="412240" cy="4051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1372" y="1429511"/>
              <a:ext cx="10583418" cy="5428488"/>
            </a:xfrm>
            <a:prstGeom prst="rect">
              <a:avLst/>
            </a:prstGeom>
          </p:spPr>
        </p:pic>
      </p:grpSp>
      <p:sp>
        <p:nvSpPr>
          <p:cNvPr id="12" name="object 18">
            <a:extLst>
              <a:ext uri="{FF2B5EF4-FFF2-40B4-BE49-F238E27FC236}">
                <a16:creationId xmlns:a16="http://schemas.microsoft.com/office/drawing/2014/main" xmlns="" id="{4751A9FF-D864-4135-AD5B-58AA20E6D3D9}"/>
              </a:ext>
            </a:extLst>
          </p:cNvPr>
          <p:cNvSpPr txBox="1"/>
          <p:nvPr/>
        </p:nvSpPr>
        <p:spPr>
          <a:xfrm>
            <a:off x="502920" y="1371600"/>
            <a:ext cx="8961120" cy="1371600"/>
          </a:xfrm>
          <a:prstGeom prst="rect">
            <a:avLst/>
          </a:prstGeom>
        </p:spPr>
        <p:txBody>
          <a:bodyPr vert="horz" wrap="square" lIns="0" tIns="53975" rIns="0" bIns="0" rtlCol="0" anchor="ctr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425"/>
              </a:spcBef>
              <a:spcAft>
                <a:spcPts val="400"/>
              </a:spcAft>
              <a:buNone/>
            </a:pPr>
            <a:r>
              <a:rPr sz="3000" b="1">
                <a:solidFill>
                  <a:srgbClr val="FFFFFF"/>
                </a:solidFill>
                <a:latin typeface="Arial"/>
              </a:rPr>
              <a:t>AI-агент для поиска ответов по внутренней документации и базам данных предприятия</a:t>
            </a:r>
            <a:endParaRPr sz="4800" dirty="0">
              <a:solidFill>
                <a:schemeClr val="bg1">
                  <a:lumMod val="95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95DA9EF1-0E8C-4C5A-B74B-3FDAD204BABF}"/>
              </a:ext>
            </a:extLst>
          </p:cNvPr>
          <p:cNvSpPr/>
          <p:nvPr/>
        </p:nvSpPr>
        <p:spPr>
          <a:xfrm>
            <a:off x="502920" y="5669280"/>
            <a:ext cx="9601200" cy="68580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5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EF7D20"/>
                </a:solidFill>
                <a:latin typeface="Arial"/>
              </a:rPr>
              <a:t>[ФИО участников, телефон, почта]</a:t>
            </a:r>
            <a:endParaRPr lang="ru-RU" sz="1800" dirty="0">
              <a:solidFill>
                <a:schemeClr val="bg1">
                  <a:lumMod val="95000"/>
                </a:schemeClr>
              </a:solidFill>
              <a:latin typeface="Microsoft Sans Serif"/>
              <a:cs typeface="Microsoft Sans Serif"/>
            </a:endParaRPr>
          </a:p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FFFFFF"/>
                </a:solidFill>
                <a:latin typeface="Arial"/>
              </a:rPr>
              <a:t>РГРТУ им. В.Ф. Уткина · задача индустриального партнёра № 34 — ООО «НПВП «НаноТехноПром»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D9FE8D8C-B19E-4435-9B06-3375ED8685F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684" y="601947"/>
            <a:ext cx="1612470" cy="4943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936625"/>
          </a:xfrm>
          <a:custGeom>
            <a:avLst/>
            <a:gdLst/>
            <a:ahLst/>
            <a:cxnLst/>
            <a:rect l="l" t="t" r="r" b="b"/>
            <a:pathLst>
              <a:path h="936625">
                <a:moveTo>
                  <a:pt x="0" y="0"/>
                </a:moveTo>
                <a:lnTo>
                  <a:pt x="0" y="936625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000" y="517579"/>
            <a:ext cx="10050780" cy="777777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6190"/>
              </a:lnSpc>
              <a:spcBef>
                <a:spcPts val="1085"/>
              </a:spcBef>
            </a:pPr>
            <a:r>
              <a:rPr lang="ru-RU" spc="55" dirty="0">
                <a:latin typeface="Trebuchet MS"/>
                <a:cs typeface="Trebuchet MS"/>
              </a:rPr>
              <a:t>ПРОБЛЕМА</a:t>
            </a:r>
            <a:endParaRPr lang="ru-RU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1976609"/>
            <a:ext cx="11582400" cy="4363812"/>
            <a:chOff x="-7118350" y="2163524"/>
            <a:chExt cx="11582400" cy="4580336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118350" y="2277824"/>
              <a:ext cx="11582400" cy="4466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994270" y="2163524"/>
              <a:ext cx="3662299" cy="328574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2</a:t>
            </a:fld>
            <a:endParaRPr spc="-50" dirty="0">
              <a:solidFill>
                <a:srgbClr val="FFFFFF"/>
              </a:solidFill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5800" y="2286000"/>
            <a:ext cx="10424160" cy="38404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Чья проблема.</a:t>
            </a:r>
            <a:r>
              <a:rPr sz="1500" b="0">
                <a:solidFill>
                  <a:srgbClr val="1F1A2E"/>
                </a:solidFill>
                <a:latin typeface="Arial"/>
              </a:rPr>
              <a:t> Сотрудники производственных и научно-производственных предприятий — инженеры, технологи, новые сотрудники. Платит руководитель: он теряет время специалистов и получает ошибки.</a:t>
            </a:r>
          </a:p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Как решается сейчас.</a:t>
            </a:r>
            <a:r>
              <a:rPr sz="1500" b="0">
                <a:solidFill>
                  <a:srgbClr val="1F1A2E"/>
                </a:solidFill>
                <a:latin typeface="Arial"/>
              </a:rPr>
              <a:t> Поиск по сетевым папкам, порталу и бумажным регламентам, вопросы опытным коллегам. Облачные ИИ-сервисы использовать нельзя: коммерческая тайна и защита данных.</a:t>
            </a:r>
          </a:p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Почему это плохо.</a:t>
            </a:r>
            <a:r>
              <a:rPr sz="1500" b="0">
                <a:solidFill>
                  <a:srgbClr val="1F1A2E"/>
                </a:solidFill>
                <a:latin typeface="Arial"/>
              </a:rPr>
              <a:t> Долго; ответ зависит от того, кто «помнит»; ошибки из-за устаревших версий документов; универсальные чат-боты выдумывают ответы, и им нельзя доверять в рабочих вопросах.</a:t>
            </a:r>
          </a:p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Масштаб.</a:t>
            </a:r>
            <a:r>
              <a:rPr sz="1500" b="0">
                <a:solidFill>
                  <a:srgbClr val="1F1A2E"/>
                </a:solidFill>
                <a:latin typeface="Arial"/>
              </a:rPr>
              <a:t> По оценке McKinsey Global Institute (2012), офисные сотрудники тратят на поиск и сбор информации около 1,8 часа в день — порядка 20 % рабочего времени.</a:t>
            </a:r>
          </a:p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Кто подтвердил.</a:t>
            </a:r>
            <a:r>
              <a:rPr sz="1500" b="0">
                <a:solidFill>
                  <a:srgbClr val="1F1A2E"/>
                </a:solidFill>
                <a:latin typeface="Arial"/>
              </a:rPr>
              <a:t> Задача поставлена индустриальным партнёром — ООО «НПВП «НаноТехноПром» (задача № 34). </a:t>
            </a:r>
            <a:r>
              <a:rPr sz="1500" b="1">
                <a:solidFill>
                  <a:srgbClr val="EF7D20"/>
                </a:solidFill>
                <a:latin typeface="Arial"/>
              </a:rPr>
              <a:t>[Интервью: N сотрудников партнёра и M предприятий Рязани — цифры и цитаты по итогам интервью]</a:t>
            </a:r>
          </a:p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xmlns="" id="{5E90570F-24C4-440F-B3CE-6447FFF160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27" y="590062"/>
            <a:ext cx="1455005" cy="2620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44441"/>
            <a:ext cx="10050780" cy="816317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 marR="5080" algn="just">
              <a:lnSpc>
                <a:spcPts val="6600"/>
              </a:lnSpc>
              <a:spcBef>
                <a:spcPts val="710"/>
              </a:spcBef>
            </a:pPr>
            <a:r>
              <a:rPr lang="ru-RU" spc="-45" dirty="0">
                <a:latin typeface="Trebuchet MS"/>
                <a:cs typeface="Trebuchet MS"/>
              </a:rPr>
              <a:t>РЕШЕНИЕ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3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xmlns="" id="{C5046DEE-075A-4402-846A-02CE26523171}"/>
              </a:ext>
            </a:extLst>
          </p:cNvPr>
          <p:cNvSpPr/>
          <p:nvPr/>
        </p:nvSpPr>
        <p:spPr>
          <a:xfrm>
            <a:off x="530352" y="1417320"/>
            <a:ext cx="7955279" cy="260604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Суть.</a:t>
            </a:r>
            <a:r>
              <a:rPr sz="1300" b="0">
                <a:solidFill>
                  <a:srgbClr val="1F1A2E"/>
                </a:solidFill>
                <a:latin typeface="Arial"/>
              </a:rPr>
              <a:t> Сотрудник задаёт вопрос обычным языком — агент отвечает по внутренним документам и учётной базе со ссылкой на документ, пункт и страницу, понимает уточнения в диалоге. Если ответа нет — честно говорит об этом. Всё работает внутри предприятия, без интернета.</a:t>
            </a:r>
          </a:p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Целевые параметры пилота:</a:t>
            </a:r>
            <a:r>
              <a:rPr sz="1300" b="0">
                <a:solidFill>
                  <a:srgbClr val="1F1A2E"/>
                </a:solidFill>
                <a:latin typeface="Arial"/>
              </a:rPr>
              <a:t> не менее 85 % верных ответов на вопросах сотрудников партнёра, не более 3 % уверенно неверных, ответ до 10 с на сервере предприятия.</a:t>
            </a:r>
          </a:p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Сценарии:</a:t>
            </a:r>
            <a:r>
              <a:rPr sz="1300" b="0">
                <a:solidFill>
                  <a:srgbClr val="1F1A2E"/>
                </a:solidFill>
                <a:latin typeface="Arial"/>
              </a:rPr>
              <a:t> нештатная ситуация в ночную смену, входной контроль, метрология, охрана труда, адаптация новичков.</a:t>
            </a:r>
          </a:p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Эффект:</a:t>
            </a:r>
            <a:r>
              <a:rPr sz="1300" b="0">
                <a:solidFill>
                  <a:srgbClr val="1F1A2E"/>
                </a:solidFill>
                <a:latin typeface="Arial"/>
              </a:rPr>
              <a:t> </a:t>
            </a:r>
            <a:r>
              <a:rPr sz="1300" b="1">
                <a:solidFill>
                  <a:srgbClr val="EF7D20"/>
                </a:solidFill>
                <a:latin typeface="Arial"/>
              </a:rPr>
              <a:t>[часы поиска в день × число сотрудников — по итогам интервью]</a:t>
            </a:r>
          </a:p>
        </p:txBody>
      </p:sp>
      <p:pic>
        <p:nvPicPr>
          <p:cNvPr id="59" name="object 29">
            <a:extLst>
              <a:ext uri="{FF2B5EF4-FFF2-40B4-BE49-F238E27FC236}">
                <a16:creationId xmlns:a16="http://schemas.microsoft.com/office/drawing/2014/main" xmlns="" id="{5F4F47AF-93AF-426A-8D7E-CBEBDE67E45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9806" y="3543935"/>
            <a:ext cx="3230626" cy="3314065"/>
          </a:xfrm>
          <a:prstGeom prst="rect">
            <a:avLst/>
          </a:prstGeom>
        </p:spPr>
      </p:pic>
      <p:sp>
        <p:nvSpPr>
          <p:cNvPr id="60" name="Показатель 1"/>
          <p:cNvSpPr/>
          <p:nvPr/>
        </p:nvSpPr>
        <p:spPr>
          <a:xfrm>
            <a:off x="530352" y="4206240"/>
            <a:ext cx="2514600" cy="12344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49 из 49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верных ответов со ссылкой на пункт</a:t>
            </a:r>
          </a:p>
        </p:txBody>
      </p:sp>
      <p:sp>
        <p:nvSpPr>
          <p:cNvPr id="61" name="Показатель 2"/>
          <p:cNvSpPr/>
          <p:nvPr/>
        </p:nvSpPr>
        <p:spPr>
          <a:xfrm>
            <a:off x="3227832" y="4206240"/>
            <a:ext cx="2514600" cy="12344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12 из 12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честных отказов, когда ответа нет</a:t>
            </a:r>
          </a:p>
        </p:txBody>
      </p:sp>
      <p:sp>
        <p:nvSpPr>
          <p:cNvPr id="62" name="Показатель 3"/>
          <p:cNvSpPr/>
          <p:nvPr/>
        </p:nvSpPr>
        <p:spPr>
          <a:xfrm>
            <a:off x="5925312" y="4206240"/>
            <a:ext cx="2514600" cy="12344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1,2 с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на ответ, без интернета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557784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>
                <a:solidFill>
                  <a:srgbClr val="6E667A"/>
                </a:solidFill>
                <a:latin typeface="Arial"/>
              </a:rPr>
              <a:t>Эталон из 85 вопросов, неверных ответов — 0; вопросы «с ходу», как от жюри, — 38 из 38.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25" dirty="0">
                <a:latin typeface="Trebuchet MS"/>
                <a:cs typeface="Trebuchet MS"/>
              </a:rPr>
              <a:t>ПОЛЬЗА ДЛЯ РУКОВОДИТЕЛЯ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5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Польза: текст"/>
          <p:cNvSpPr txBox="1"/>
          <p:nvPr/>
        </p:nvSpPr>
        <p:spPr>
          <a:xfrm>
            <a:off x="530352" y="137160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1A2E"/>
                </a:solidFill>
                <a:latin typeface="Arial"/>
              </a:rPr>
              <a:t>Пробелы в документации. </a:t>
            </a:r>
            <a:r>
              <a:rPr sz="1400" b="0">
                <a:solidFill>
                  <a:srgbClr val="1F1A2E"/>
                </a:solidFill>
                <a:latin typeface="Arial"/>
              </a:rPr>
              <a:t>Вопросы сотрудников, на которые в документах и учёте не нашлось ответа, агент собирает в темы: сколько раз и у каких ролей спрашивали — это список того, что дописать в регламенты. Пробел закрывается сам, когда агент начинает отвечать, а «Ответ есть для ролей» показывает, что дело в правах доступа.</a:t>
            </a:r>
          </a:p>
        </p:txBody>
      </p:sp>
      <p:sp>
        <p:nvSpPr>
          <p:cNvPr id="60" name="Польза: подпись"/>
          <p:cNvSpPr txBox="1"/>
          <p:nvPr/>
        </p:nvSpPr>
        <p:spPr>
          <a:xfrm>
            <a:off x="530352" y="61081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E667A"/>
                </a:solidFill>
                <a:latin typeface="Arial"/>
              </a:rPr>
              <a:t>Экран прототипа на тестовых вопросах команды. В администрировании также: журнал запросов с выгрузкой, оценки ответов сотрудниками, учёт редакций документов.</a:t>
            </a:r>
          </a:p>
        </p:txBody>
      </p:sp>
      <p:pic>
        <p:nvPicPr>
          <p:cNvPr id="61" name="Польза: экран пробелов" descr="09_probely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240280"/>
            <a:ext cx="10607040" cy="3784133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</p:spTree>
    <p:extLst>
      <p:ext uri="{BB962C8B-B14F-4D97-AF65-F5344CB8AC3E}">
        <p14:creationId xmlns:p14="http://schemas.microsoft.com/office/powerpoint/2010/main" val="371980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25" dirty="0">
                <a:latin typeface="Trebuchet MS"/>
                <a:cs typeface="Trebuchet MS"/>
              </a:rPr>
              <a:t>ЧТО ЕЩЁ УМЕЕТ АГЕНТ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5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Редакции: заголовок"/>
          <p:cNvSpPr txBox="1"/>
          <p:nvPr/>
        </p:nvSpPr>
        <p:spPr>
          <a:xfrm>
            <a:off x="530352" y="1371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8064A2"/>
                </a:solidFill>
                <a:latin typeface="Arial"/>
              </a:rPr>
              <a:t>Что изменилось в новой редакции</a:t>
            </a:r>
          </a:p>
        </p:txBody>
      </p:sp>
      <p:sp>
        <p:nvSpPr>
          <p:cNvPr id="59" name="Редакции: текст"/>
          <p:cNvSpPr txBox="1"/>
          <p:nvPr/>
        </p:nvSpPr>
        <p:spPr>
          <a:xfrm>
            <a:off x="530352" y="17373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1A2E"/>
                </a:solidFill>
                <a:latin typeface="Arial"/>
              </a:rPr>
              <a:t>Пункты сопоставляются по смыслу, даже если нумерация сдвинулась: было → стало. Без языковой модели, за 0,05 с.</a:t>
            </a:r>
          </a:p>
        </p:txBody>
      </p:sp>
      <p:pic>
        <p:nvPicPr>
          <p:cNvPr id="60" name="Редакции: экран" descr="12_redakcii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395728"/>
            <a:ext cx="4684844" cy="3566160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  <p:sp>
        <p:nvSpPr>
          <p:cNvPr id="61" name="Нормоконтроль: заголовок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8064A2"/>
                </a:solidFill>
                <a:latin typeface="Arial"/>
              </a:rPr>
              <a:t>Нормоконтроль по ГОСТ Р 7.0.97</a:t>
            </a:r>
          </a:p>
        </p:txBody>
      </p:sp>
      <p:sp>
        <p:nvSpPr>
          <p:cNvPr id="62" name="Нормоконтроль: текст"/>
          <p:cNvSpPr txBox="1"/>
          <p:nvPr/>
        </p:nvSpPr>
        <p:spPr>
          <a:xfrm>
            <a:off x="6355080" y="17373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1A2E"/>
                </a:solidFill>
                <a:latin typeface="Arial"/>
              </a:rPr>
              <a:t>Приказ в Word: поля, шрифт, отступы, интервалы, даты — у каждого замечания ссылка на пункт стандарта.</a:t>
            </a:r>
          </a:p>
        </p:txBody>
      </p:sp>
      <p:pic>
        <p:nvPicPr>
          <p:cNvPr id="63" name="Нормоконтроль: экран" descr="13_normokontrol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395728"/>
            <a:ext cx="4823085" cy="3566160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  <p:sp>
        <p:nvSpPr>
          <p:cNvPr id="64" name="Word: подпись"/>
          <p:cNvSpPr txBox="1"/>
          <p:nvPr/>
        </p:nvSpPr>
        <p:spPr>
          <a:xfrm>
            <a:off x="530352" y="60899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1A2E"/>
                </a:solidFill>
                <a:latin typeface="Arial"/>
              </a:rPr>
              <a:t>Ответ — в Word: </a:t>
            </a:r>
            <a:r>
              <a:rPr sz="1200" b="0">
                <a:solidFill>
                  <a:srgbClr val="1F1A2E"/>
                </a:solidFill>
                <a:latin typeface="Arial"/>
              </a:rPr>
              <a:t>кнопка под любым ответом сохраняет вопрос, ответ, таблицу записей и источники — чтобы вложить в служебную записку.</a:t>
            </a:r>
          </a:p>
        </p:txBody>
      </p:sp>
    </p:spTree>
    <p:extLst>
      <p:ext uri="{BB962C8B-B14F-4D97-AF65-F5344CB8AC3E}">
        <p14:creationId xmlns:p14="http://schemas.microsoft.com/office/powerpoint/2010/main" val="3719803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40" dirty="0">
                <a:latin typeface="Trebuchet MS"/>
                <a:cs typeface="Trebuchet MS"/>
              </a:rPr>
              <a:t>ТЕХНОЛОГИЧЕСКОЕ ЯДРО ПРОЕКТА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4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Подзаголовок"/>
          <p:cNvSpPr txBox="1"/>
          <p:nvPr/>
        </p:nvSpPr>
        <p:spPr>
          <a:xfrm>
            <a:off x="566928" y="132588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1F1A2E"/>
                </a:solidFill>
                <a:latin typeface="Arial"/>
              </a:rPr>
              <a:t>Отвечает только по документам и учётной базе предприятия — со ссылкой на источник и без интернета</a:t>
            </a:r>
          </a:p>
        </p:txBody>
      </p:sp>
      <p:sp>
        <p:nvSpPr>
          <p:cNvPr id="59" name="Шаг: Вопрос"/>
          <p:cNvSpPr/>
          <p:nvPr/>
        </p:nvSpPr>
        <p:spPr>
          <a:xfrm>
            <a:off x="457200" y="3127248"/>
            <a:ext cx="109728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Вопрос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сотрудника</a:t>
            </a:r>
          </a:p>
        </p:txBody>
      </p:sp>
      <p:sp>
        <p:nvSpPr>
          <p:cNvPr id="60" name="Шаг: Где искать?"/>
          <p:cNvSpPr/>
          <p:nvPr/>
        </p:nvSpPr>
        <p:spPr>
          <a:xfrm>
            <a:off x="1684020" y="3127248"/>
            <a:ext cx="146304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Где искать?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GigaChat выбирает: документы или база</a:t>
            </a:r>
          </a:p>
        </p:txBody>
      </p:sp>
      <p:sp>
        <p:nvSpPr>
          <p:cNvPr id="61" name="Шаг: Гибридный поиск"/>
          <p:cNvSpPr/>
          <p:nvPr/>
        </p:nvSpPr>
        <p:spPr>
          <a:xfrm>
            <a:off x="3276600" y="3127248"/>
            <a:ext cx="16002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Гибридный поиск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по словам (BM25) и по смыслу (bge-m3)</a:t>
            </a:r>
          </a:p>
        </p:txBody>
      </p:sp>
      <p:sp>
        <p:nvSpPr>
          <p:cNvPr id="62" name="Шаг: Оценка релевантности"/>
          <p:cNvSpPr/>
          <p:nvPr/>
        </p:nvSpPr>
        <p:spPr>
          <a:xfrm>
            <a:off x="5006340" y="3127248"/>
            <a:ext cx="146304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Оценка релевантности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переранжировщик bge-reranker-v2-m3</a:t>
            </a:r>
          </a:p>
        </p:txBody>
      </p:sp>
      <p:sp>
        <p:nvSpPr>
          <p:cNvPr id="63" name="Шаг: GigaChat 3.1 Lightning"/>
          <p:cNvSpPr/>
          <p:nvPr/>
        </p:nvSpPr>
        <p:spPr>
          <a:xfrm>
            <a:off x="6598920" y="3127248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GigaChat 3.1 Lightning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отвечает только по найденным фрагментам</a:t>
            </a:r>
          </a:p>
        </p:txBody>
      </p:sp>
      <p:sp>
        <p:nvSpPr>
          <p:cNvPr id="64" name="Шаг: Проверка ответа"/>
          <p:cNvSpPr/>
          <p:nvPr/>
        </p:nvSpPr>
        <p:spPr>
          <a:xfrm>
            <a:off x="8557260" y="3127248"/>
            <a:ext cx="132588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Проверка ответа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ссылки верны, ответ о том же предмете</a:t>
            </a:r>
          </a:p>
        </p:txBody>
      </p:sp>
      <p:sp>
        <p:nvSpPr>
          <p:cNvPr id="65" name="Шаг: Ответ со ссылкой"/>
          <p:cNvSpPr/>
          <p:nvPr/>
        </p:nvSpPr>
        <p:spPr>
          <a:xfrm>
            <a:off x="10012680" y="3127248"/>
            <a:ext cx="1691640" cy="914400"/>
          </a:xfrm>
          <a:prstGeom prst="roundRect">
            <a:avLst>
              <a:gd name="adj" fmla="val 18000"/>
            </a:avLst>
          </a:prstGeom>
          <a:solidFill>
            <a:srgbClr val="4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Ответ со ссылкой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документ · пункт · страница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55448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14706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87680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46938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42772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88314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Защита 1"/>
          <p:cNvSpPr/>
          <p:nvPr/>
        </p:nvSpPr>
        <p:spPr>
          <a:xfrm>
            <a:off x="628650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3" name="Защита 2"/>
          <p:cNvSpPr/>
          <p:nvPr/>
        </p:nvSpPr>
        <p:spPr>
          <a:xfrm>
            <a:off x="824484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4" name="Защита 3"/>
          <p:cNvSpPr/>
          <p:nvPr/>
        </p:nvSpPr>
        <p:spPr>
          <a:xfrm>
            <a:off x="9407652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Защита 4"/>
          <p:cNvSpPr/>
          <p:nvPr/>
        </p:nvSpPr>
        <p:spPr>
          <a:xfrm>
            <a:off x="970026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2880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>
                <a:solidFill>
                  <a:srgbClr val="6E667A"/>
                </a:solidFill>
                <a:latin typeface="Arial"/>
              </a:rPr>
              <a:t>ВОПРОС ПО ДОКУМЕНТАМ</a:t>
            </a:r>
          </a:p>
        </p:txBody>
      </p:sp>
      <p:sp>
        <p:nvSpPr>
          <p:cNvPr id="77" name="Индексация: PDF, DOCX"/>
          <p:cNvSpPr/>
          <p:nvPr/>
        </p:nvSpPr>
        <p:spPr>
          <a:xfrm>
            <a:off x="457200" y="2029968"/>
            <a:ext cx="1097280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PDF, DOCX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регламенты, ГОСТы</a:t>
            </a:r>
          </a:p>
        </p:txBody>
      </p:sp>
      <p:sp>
        <p:nvSpPr>
          <p:cNvPr id="78" name="Индексация: Разбор на пункты"/>
          <p:cNvSpPr/>
          <p:nvPr/>
        </p:nvSpPr>
        <p:spPr>
          <a:xfrm>
            <a:off x="1719072" y="2029968"/>
            <a:ext cx="1392936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Разбор на пункты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номер пункта и страницы</a:t>
            </a:r>
          </a:p>
        </p:txBody>
      </p:sp>
      <p:sp>
        <p:nvSpPr>
          <p:cNvPr id="79" name="Индексация: Индекс"/>
          <p:cNvSpPr/>
          <p:nvPr/>
        </p:nvSpPr>
        <p:spPr>
          <a:xfrm>
            <a:off x="3276600" y="2029968"/>
            <a:ext cx="1600200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Индекс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слова и смысловые векторы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554480" y="2386584"/>
            <a:ext cx="164592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12008" y="2386584"/>
            <a:ext cx="164592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076700" y="2743200"/>
            <a:ext cx="0" cy="384048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57200" y="17830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>
                <a:solidFill>
                  <a:srgbClr val="6E667A"/>
                </a:solidFill>
                <a:latin typeface="Arial"/>
              </a:rPr>
              <a:t>ИНДЕКСАЦИЯ — при добавлении документов</a:t>
            </a:r>
          </a:p>
        </p:txBody>
      </p:sp>
      <p:sp>
        <p:nvSpPr>
          <p:cNvPr id="84" name="Четыре уровня защиты"/>
          <p:cNvSpPr/>
          <p:nvPr/>
        </p:nvSpPr>
        <p:spPr>
          <a:xfrm>
            <a:off x="5006340" y="2029968"/>
            <a:ext cx="6697980" cy="713232"/>
          </a:xfrm>
          <a:prstGeom prst="roundRect">
            <a:avLst>
              <a:gd name="adj" fmla="val 12000"/>
            </a:avLst>
          </a:prstGeom>
          <a:solidFill>
            <a:srgbClr val="FDEFE3"/>
          </a:solidFill>
          <a:ln w="12700">
            <a:solidFill>
              <a:srgbClr val="EF7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1F1A2E"/>
                </a:solidFill>
                <a:latin typeface="Arial"/>
              </a:rPr>
              <a:t>Четыре уровня защиты от выдумок</a:t>
            </a:r>
          </a:p>
          <a:p>
            <a:r>
              <a:rPr sz="1050" b="0">
                <a:solidFill>
                  <a:srgbClr val="1F1A2E"/>
                </a:solidFill>
                <a:latin typeface="Arial"/>
              </a:rPr>
              <a:t>1 — нерелевантно: «ответа нет», модель не вызывается   2 — модель видит только найденное</a:t>
            </a:r>
          </a:p>
          <a:p>
            <a:r>
              <a:rPr sz="1050" b="0">
                <a:solidFill>
                  <a:srgbClr val="1F1A2E"/>
                </a:solidFill>
                <a:latin typeface="Arial"/>
              </a:rPr>
              <a:t>3 — ответ без верной ссылки не показывается   4 — ответ о том же предмете, а не о похожем</a:t>
            </a:r>
          </a:p>
        </p:txBody>
      </p:sp>
      <p:sp>
        <p:nvSpPr>
          <p:cNvPr id="85" name="Учёт: SQL"/>
          <p:cNvSpPr/>
          <p:nvPr/>
        </p:nvSpPr>
        <p:spPr>
          <a:xfrm>
            <a:off x="1684020" y="4462272"/>
            <a:ext cx="1828800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GigaChat → SQL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только SELECT, только чтение</a:t>
            </a:r>
          </a:p>
        </p:txBody>
      </p:sp>
      <p:sp>
        <p:nvSpPr>
          <p:cNvPr id="86" name="Учёт: база"/>
          <p:cNvSpPr/>
          <p:nvPr/>
        </p:nvSpPr>
        <p:spPr>
          <a:xfrm>
            <a:off x="3695700" y="4462272"/>
            <a:ext cx="1554480" cy="731520"/>
          </a:xfrm>
          <a:prstGeom prst="can">
            <a:avLst/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Учётная база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1С · ERP · MES</a:t>
            </a:r>
          </a:p>
        </p:txBody>
      </p:sp>
      <p:sp>
        <p:nvSpPr>
          <p:cNvPr id="87" name="Учёт: ответ"/>
          <p:cNvSpPr/>
          <p:nvPr/>
        </p:nvSpPr>
        <p:spPr>
          <a:xfrm>
            <a:off x="5433060" y="4462272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4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Ответ + таблица записей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запрос — у администратора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415540" y="4041648"/>
            <a:ext cx="0" cy="420624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512820" y="4828032"/>
            <a:ext cx="18288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50180" y="4828032"/>
            <a:ext cx="18288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525268" y="40690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6E667A"/>
                </a:solidFill>
                <a:latin typeface="Arial"/>
              </a:rPr>
              <a:t>вопрос по учёту</a:t>
            </a:r>
          </a:p>
        </p:txBody>
      </p:sp>
      <p:sp>
        <p:nvSpPr>
          <p:cNvPr id="92" name="Журнал"/>
          <p:cNvSpPr/>
          <p:nvPr/>
        </p:nvSpPr>
        <p:spPr>
          <a:xfrm>
            <a:off x="10012680" y="4462272"/>
            <a:ext cx="1691640" cy="731520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Журнал запросов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кто, что спросил, что получил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0858500" y="4041648"/>
            <a:ext cx="0" cy="420624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536180" y="4828032"/>
            <a:ext cx="247650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Факт: Отечественная модель"/>
          <p:cNvSpPr/>
          <p:nvPr/>
        </p:nvSpPr>
        <p:spPr>
          <a:xfrm>
            <a:off x="4572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Отечественная модель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GigaChat 3.1 Lightning, MIT, без иностранных весов</a:t>
            </a:r>
          </a:p>
        </p:txBody>
      </p:sp>
      <p:sp>
        <p:nvSpPr>
          <p:cNvPr id="96" name="Факт: Без интернета"/>
          <p:cNvSpPr/>
          <p:nvPr/>
        </p:nvSpPr>
        <p:spPr>
          <a:xfrm>
            <a:off x="33147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Без интернета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одна видеокарта 12 ГБ или только процессор</a:t>
            </a:r>
          </a:p>
        </p:txBody>
      </p:sp>
      <p:sp>
        <p:nvSpPr>
          <p:cNvPr id="97" name="Факт: Скорость"/>
          <p:cNvSpPr/>
          <p:nvPr/>
        </p:nvSpPr>
        <p:spPr>
          <a:xfrm>
            <a:off x="61722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Скорость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1,2 с на ответ (RTX 5070), около 4,4 с без видеокарты</a:t>
            </a:r>
          </a:p>
        </p:txBody>
      </p:sp>
      <p:sp>
        <p:nvSpPr>
          <p:cNvPr id="98" name="Факт: Указ № 529"/>
          <p:cNvSpPr/>
          <p:nvPr/>
        </p:nvSpPr>
        <p:spPr>
          <a:xfrm>
            <a:off x="90297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Указ № 529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критическая технология № 13, сквозная № 25</a:t>
            </a:r>
          </a:p>
        </p:txBody>
      </p:sp>
    </p:spTree>
    <p:extLst>
      <p:ext uri="{BB962C8B-B14F-4D97-AF65-F5344CB8AC3E}">
        <p14:creationId xmlns:p14="http://schemas.microsoft.com/office/powerpoint/2010/main" val="170573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25" dirty="0">
                <a:latin typeface="Trebuchet MS"/>
                <a:cs typeface="Trebuchet MS"/>
              </a:rPr>
              <a:t>ВНЕДРЕНИЕ В ЗАКРЫТОМ КОНТУРЕ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5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Внедрение: список"/>
          <p:cNvSpPr txBox="1"/>
          <p:nvPr/>
        </p:nvSpPr>
        <p:spPr>
          <a:xfrm>
            <a:off x="530352" y="1417320"/>
            <a:ext cx="5715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Поставка одной папкой: </a:t>
            </a:r>
            <a:r>
              <a:rPr sz="1400" b="0">
                <a:solidFill>
                  <a:srgbClr val="1F1A2E"/>
                </a:solidFill>
                <a:latin typeface="Arial"/>
              </a:rPr>
              <a:t>модели, программы, установщик и контрольные суммы SHA-256 каждого файла для службы безопасности.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Установка без интернета — 46 с. </a:t>
            </a:r>
            <a:r>
              <a:rPr sz="1400" b="0">
                <a:solidFill>
                  <a:srgbClr val="1F1A2E"/>
                </a:solidFill>
                <a:latin typeface="Arial"/>
              </a:rPr>
              <a:t>Во время работы нет соединений за пределы компьютера — проверено.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Права по ролям: </a:t>
            </a:r>
            <a:r>
              <a:rPr sz="1400" b="0">
                <a:solidFill>
                  <a:srgbClr val="1F1A2E"/>
                </a:solidFill>
                <a:latin typeface="Arial"/>
              </a:rPr>
              <a:t>сотрудник получает ответы только из доступных ему документов — 6 из 6 на проверке.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Журнал действий для ИБ: </a:t>
            </a:r>
            <a:r>
              <a:rPr sz="1400" b="0">
                <a:solidFill>
                  <a:srgbClr val="1F1A2E"/>
                </a:solidFill>
                <a:latin typeface="Arial"/>
              </a:rPr>
              <a:t>входы и неудачные попытки, загрузка и удаление документов, выдача ключей API; персональные данные в журнале вопросов маскируются.</a:t>
            </a:r>
          </a:p>
        </p:txBody>
      </p:sp>
      <p:sp>
        <p:nvSpPr>
          <p:cNvPr id="60" name="Внедрение: подпись экрана"/>
          <p:cNvSpPr txBox="1"/>
          <p:nvPr/>
        </p:nvSpPr>
        <p:spPr>
          <a:xfrm>
            <a:off x="6537960" y="4233825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E667A"/>
                </a:solidFill>
                <a:latin typeface="Arial"/>
              </a:rPr>
              <a:t>Вкладка «Безопасность» — журнал действий (экран прототипа)</a:t>
            </a:r>
          </a:p>
        </p:txBody>
      </p:sp>
      <p:sp>
        <p:nvSpPr>
          <p:cNvPr id="61" name="Внедрение: скорость 1"/>
          <p:cNvSpPr/>
          <p:nvPr/>
        </p:nvSpPr>
        <p:spPr>
          <a:xfrm>
            <a:off x="530352" y="4846320"/>
            <a:ext cx="3611880" cy="10058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1,2 с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ПК с видеокартой RTX 5070</a:t>
            </a:r>
          </a:p>
        </p:txBody>
      </p:sp>
      <p:sp>
        <p:nvSpPr>
          <p:cNvPr id="62" name="Внедрение: скорость 2"/>
          <p:cNvSpPr/>
          <p:nvPr/>
        </p:nvSpPr>
        <p:spPr>
          <a:xfrm>
            <a:off x="4325112" y="4846320"/>
            <a:ext cx="3611880" cy="10058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2,3 с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ноутбук с видеокартой от 4 ГБ</a:t>
            </a:r>
          </a:p>
        </p:txBody>
      </p:sp>
      <p:sp>
        <p:nvSpPr>
          <p:cNvPr id="63" name="Внедрение: скорость 3"/>
          <p:cNvSpPr/>
          <p:nvPr/>
        </p:nvSpPr>
        <p:spPr>
          <a:xfrm>
            <a:off x="8119872" y="4846320"/>
            <a:ext cx="3611880" cy="10058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4,4 с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только процессор, 16 ГБ памяти</a:t>
            </a:r>
          </a:p>
        </p:txBody>
      </p:sp>
      <p:sp>
        <p:nvSpPr>
          <p:cNvPr id="64" name="Внедрение: подпись скорости"/>
          <p:cNvSpPr txBox="1"/>
          <p:nvPr/>
        </p:nvSpPr>
        <p:spPr>
          <a:xfrm>
            <a:off x="530352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E667A"/>
                </a:solidFill>
                <a:latin typeface="Arial"/>
              </a:rPr>
              <a:t>Время ответа — медиана на 85 вопросах эталона; качество во всех трёх режимах одинаковое — 85 из 85.</a:t>
            </a:r>
          </a:p>
        </p:txBody>
      </p:sp>
      <p:pic>
        <p:nvPicPr>
          <p:cNvPr id="65" name="Внедрение: экран безопасности" descr="11_bezopasnost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554480"/>
            <a:ext cx="5166360" cy="2606193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</p:spTree>
    <p:extLst>
      <p:ext uri="{BB962C8B-B14F-4D97-AF65-F5344CB8AC3E}">
        <p14:creationId xmlns:p14="http://schemas.microsoft.com/office/powerpoint/2010/main" val="3719803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25" dirty="0">
                <a:latin typeface="Trebuchet MS"/>
                <a:cs typeface="Trebuchet MS"/>
              </a:rPr>
              <a:t>КОНКУРЕНТЫ И АНАЛОГИ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5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371600"/>
            <a:ext cx="11155680" cy="73152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>
                <a:solidFill>
                  <a:srgbClr val="1F1A2E"/>
                </a:solidFill>
                <a:latin typeface="Arial"/>
              </a:rPr>
              <a:t>Отличие — в сочетании гарантий: всё в контуре на одном компьютере, ссылка на пункт и страницу с выделением, опубликованный замер честных отказов, учётная база только на чтение. Отечественная модель, без зарубежных облачных сервисов.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F881A423-EFC3-4D73-99BB-496428A88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96164"/>
              </p:ext>
            </p:extLst>
          </p:nvPr>
        </p:nvGraphicFramePr>
        <p:xfrm>
          <a:off x="512064" y="2240280"/>
          <a:ext cx="11027664" cy="36393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05280">
                  <a:extLst>
                    <a:ext uri="{9D8B030D-6E8A-4147-A177-3AD203B41FA5}">
                      <a16:colId xmlns:a16="http://schemas.microsoft.com/office/drawing/2014/main" xmlns="" val="908284636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646702084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2885567444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1119717301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2485879747"/>
                    </a:ext>
                  </a:extLst>
                </a:gridCol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Характеристика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Наша разработка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Яндекс: Алиса AI для бизнеса, Алиса AI Про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Just AI (Россия)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Открытые RAG-платформы: RAGFlow, Dify (open source)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470098661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Работа без интернета, в контуре предприятия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Да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Облако в РФ; контур — у версии Про, по проекту</a:t>
                      </a:r>
                      <a:endParaRPr lang="ru-RU" dirty="0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Да — on-premise или частное облако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Да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2665334633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Ссылка на документ, пункт и страницу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Да, с выделением на странице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Ссылки на источники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Ссылка на документ-первоисточник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Ссылки на фрагменты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Честный отказ, измеренный на эталоне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Да — 12 из 12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 открытых данных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Есть оценка на эталоне; доля отказов не публикуется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 — нужно настраивать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Документы и учётная база в одном окне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Да, запрос к базе только на чтение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Да — плагины 1С, Битрикс24, amoCRM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Таблицы CSV и выгрузки из 1С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 из коробки — собирать вручную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Языковая модель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GigaChat 3.1 Lightning — отечественная, открытая (MIT)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Модели Яндекса в облаке; в Про — выбор моделей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На выбор: GigaChat, YandexGPT, DeepSeek, Qwen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Любая: локальная или облачная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Доступность для среднего бизнеса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Одна видеокарта или процессор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1 199 ₽/мес за сотрудника; Про — от 2 490 ₽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Облако — оплата по токенам; контур — по запросу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Бесплатно, но нужна своя ИТ-команда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80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8832" y="409110"/>
            <a:ext cx="10050780" cy="949045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ru-RU" sz="2800" spc="125" dirty="0">
                <a:latin typeface="Trebuchet MS"/>
              </a:rPr>
              <a:t>МОДЕЛЬ МОНЕТИЗАЦИИ </a:t>
            </a:r>
            <a:r>
              <a:rPr lang="en-US" sz="2800" spc="125" dirty="0">
                <a:latin typeface="Trebuchet MS"/>
              </a:rPr>
              <a:t/>
            </a:r>
            <a:br>
              <a:rPr lang="en-US" sz="2800" spc="125" dirty="0">
                <a:latin typeface="Trebuchet MS"/>
              </a:rPr>
            </a:br>
            <a:r>
              <a:rPr lang="ru-RU" sz="2800" spc="125" dirty="0">
                <a:latin typeface="Trebuchet MS"/>
              </a:rPr>
              <a:t>РЫНОК И ПОТРЕБИТЕЛИ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6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7223760" cy="448056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Потребитель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Производственные и научно-производственные предприятия малого и среднего бизнеса (50–1000 сотрудников) с большим объёмом технической и нормативной документации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Организации с режимом коммерческой тайны и закрытым контуром, которым облако недоступно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Первый пилот — индустриальный партнёр ООО «НПВП «НаноТехноПром»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Путь коммерциализации (гипотеза)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Пилот у партнёра → лицензия на установку в контур и годовое сопровождение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Внедрение как проект: подключение источников, эталонный набор вопросов, права доступа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Тиражирование через интеграторов 1С и разработчиков отраслевого ПО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Рынок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[Оценка TAM / SAM / SOM и расчёт юнит-экономики — на втором этапе]</a:t>
            </a:r>
          </a:p>
        </p:txBody>
      </p:sp>
      <p:pic>
        <p:nvPicPr>
          <p:cNvPr id="9" name="object 31">
            <a:extLst>
              <a:ext uri="{FF2B5EF4-FFF2-40B4-BE49-F238E27FC236}">
                <a16:creationId xmlns:a16="http://schemas.microsoft.com/office/drawing/2014/main" xmlns="" id="{402BB6D4-F4FB-4A44-A7A9-9C3BC618B1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8600" y="1945975"/>
            <a:ext cx="4306632" cy="499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53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КОМАНДА И ПРОГРЕСС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7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6858000" cy="475488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Команда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[ФИО]</a:t>
            </a:r>
            <a:r>
              <a:rPr sz="1300" b="1">
                <a:solidFill>
                  <a:srgbClr val="1F1A2E"/>
                </a:solidFill>
                <a:latin typeface="Arial"/>
              </a:rPr>
              <a:t>, </a:t>
            </a:r>
            <a:r>
              <a:rPr sz="1300" b="1">
                <a:solidFill>
                  <a:srgbClr val="EF7D20"/>
                </a:solidFill>
                <a:latin typeface="Arial"/>
              </a:rPr>
              <a:t>[курс, направление]</a:t>
            </a:r>
            <a:r>
              <a:rPr sz="1300" b="0">
                <a:solidFill>
                  <a:srgbClr val="1F1A2E"/>
                </a:solidFill>
                <a:latin typeface="Arial"/>
              </a:rPr>
              <a:t> — лидер, разработка прототипа: поиск, языковая модель, база данных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[ФИО]</a:t>
            </a:r>
            <a:r>
              <a:rPr sz="1300" b="1">
                <a:solidFill>
                  <a:srgbClr val="1F1A2E"/>
                </a:solidFill>
                <a:latin typeface="Arial"/>
              </a:rPr>
              <a:t>, </a:t>
            </a:r>
            <a:r>
              <a:rPr sz="1300" b="1">
                <a:solidFill>
                  <a:srgbClr val="EF7D20"/>
                </a:solidFill>
                <a:latin typeface="Arial"/>
              </a:rPr>
              <a:t>[курс, направление]</a:t>
            </a:r>
            <a:r>
              <a:rPr sz="1300" b="0">
                <a:solidFill>
                  <a:srgbClr val="1F1A2E"/>
                </a:solidFill>
                <a:latin typeface="Arial"/>
              </a:rPr>
              <a:t> — презентация, паспорт проекта, видео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[ФИО]</a:t>
            </a:r>
            <a:r>
              <a:rPr sz="1300" b="1">
                <a:solidFill>
                  <a:srgbClr val="1F1A2E"/>
                </a:solidFill>
                <a:latin typeface="Arial"/>
              </a:rPr>
              <a:t>, </a:t>
            </a:r>
            <a:r>
              <a:rPr sz="1300" b="1">
                <a:solidFill>
                  <a:srgbClr val="EF7D20"/>
                </a:solidFill>
                <a:latin typeface="Arial"/>
              </a:rPr>
              <a:t>[курс, направление]</a:t>
            </a:r>
            <a:r>
              <a:rPr sz="1300" b="0">
                <a:solidFill>
                  <a:srgbClr val="1F1A2E"/>
                </a:solidFill>
                <a:latin typeface="Arial"/>
              </a:rPr>
              <a:t> — интервью с потребителями, тестирование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1F1A2E"/>
                </a:solidFill>
                <a:latin typeface="Arial"/>
              </a:rPr>
              <a:t>Наставник:</a:t>
            </a:r>
            <a:r>
              <a:rPr sz="1300" b="0">
                <a:solidFill>
                  <a:srgbClr val="1F1A2E"/>
                </a:solidFill>
                <a:latin typeface="Arial"/>
              </a:rPr>
              <a:t> </a:t>
            </a:r>
            <a:r>
              <a:rPr sz="1300" b="1">
                <a:solidFill>
                  <a:srgbClr val="EF7D20"/>
                </a:solidFill>
                <a:latin typeface="Arial"/>
              </a:rPr>
              <a:t>[ФИО]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Что сделано за первый этап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Выбрана задача индустриального партнёра № 34 и сформулирована гипотеза продукта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Собран работающий прототип с локальным развёртыванием: 49 из 49 верных ответов, 12 из 12 честных отказов на эталоне из 85 вопросов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Подготовлен опросный лист; </a:t>
            </a:r>
            <a:r>
              <a:rPr sz="1300" b="1">
                <a:solidFill>
                  <a:srgbClr val="EF7D20"/>
                </a:solidFill>
                <a:latin typeface="Arial"/>
              </a:rPr>
              <a:t>[проведено N интервью: кто и что подтвердили]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[Отправлен / подготовлен]</a:t>
            </a:r>
            <a:r>
              <a:rPr sz="1300" b="0">
                <a:solidFill>
                  <a:srgbClr val="1F1A2E"/>
                </a:solidFill>
                <a:latin typeface="Arial"/>
              </a:rPr>
              <a:t> запрос партнёру на документы, вопросы сотрудников и пилот</a:t>
            </a:r>
          </a:p>
        </p:txBody>
      </p:sp>
      <p:pic>
        <p:nvPicPr>
          <p:cNvPr id="10" name="object 23">
            <a:extLst>
              <a:ext uri="{FF2B5EF4-FFF2-40B4-BE49-F238E27FC236}">
                <a16:creationId xmlns:a16="http://schemas.microsoft.com/office/drawing/2014/main" xmlns="" id="{D81E31C8-16EF-4A10-853D-CADBCE13232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9" y="1895310"/>
            <a:ext cx="4724399" cy="49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1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ПАРТНЕРЫ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8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6858000" cy="475488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Задача партнёра</a:t>
            </a:r>
          </a:p>
          <a:p>
            <a:pPr algn="l">
              <a:spcAft>
                <a:spcPts val="300"/>
              </a:spcAft>
              <a:buNone/>
            </a:pPr>
            <a:r>
              <a:rPr sz="1300" b="0">
                <a:solidFill>
                  <a:srgbClr val="1F1A2E"/>
                </a:solidFill>
                <a:latin typeface="Arial"/>
              </a:rPr>
              <a:t>ООО «НПВП «НаноТехноПром», Рязань — задача № 34: «Эффективное использование AI-агентов для качественных и точных ответов, используя внутренние базы знаний и данных предприятия».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Роль партнёра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Постановщик задачи и источник требований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Обезличенные документы и вопросы сотрудников для замеров на реальных данных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Площадка пилотного внедрения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Ближайшие шаги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Получить форму описания задачи и контакты представителя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Интервью с постановщиком задачи, сотрудниками и службой ИТ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Пилот на документах партнёра: </a:t>
            </a:r>
            <a:r>
              <a:rPr sz="1300" b="1">
                <a:solidFill>
                  <a:srgbClr val="EF7D20"/>
                </a:solidFill>
                <a:latin typeface="Arial"/>
              </a:rPr>
              <a:t>[дата]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Другие заинтересованные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[Предприятия Рязани по итогам интервью]</a:t>
            </a:r>
          </a:p>
        </p:txBody>
      </p:sp>
      <p:pic>
        <p:nvPicPr>
          <p:cNvPr id="10" name="object 23">
            <a:extLst>
              <a:ext uri="{FF2B5EF4-FFF2-40B4-BE49-F238E27FC236}">
                <a16:creationId xmlns:a16="http://schemas.microsoft.com/office/drawing/2014/main" xmlns="" id="{3593A62C-A660-493E-A8FD-B5A586C09E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9" y="1895310"/>
            <a:ext cx="4724399" cy="49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4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УРОВЕНЬ ГОТОВНОСТИ ТЕХНОЛОГИИ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9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DDC7B154-4116-4471-BAA3-1CFE6152CE33}"/>
              </a:ext>
            </a:extLst>
          </p:cNvPr>
          <p:cNvSpPr/>
          <p:nvPr/>
        </p:nvSpPr>
        <p:spPr>
          <a:xfrm>
            <a:off x="457200" y="1371600"/>
            <a:ext cx="7863840" cy="137160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Текущий уровень: TRL 4.</a:t>
            </a:r>
            <a:r>
              <a:rPr sz="1300" b="0">
                <a:solidFill>
                  <a:srgbClr val="1F1A2E"/>
                </a:solidFill>
                <a:latin typeface="Arial"/>
              </a:rPr>
              <a:t> Прототип работает, характеристики подтверждены в лабораторных условиях: эталон из 85 вопросов, 38 вопросов «с ходу», как от жюри, проверка прав по ролям.</a:t>
            </a:r>
          </a:p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Артефакты:</a:t>
            </a:r>
            <a:r>
              <a:rPr sz="1300" b="0">
                <a:solidFill>
                  <a:srgbClr val="1F1A2E"/>
                </a:solidFill>
                <a:latin typeface="Arial"/>
              </a:rPr>
              <a:t> видео работы прототипа; протокол испытаний (eval/results/latest.md); код в репозитории; поставка для закрытого контура; замеры скорости в трёх режимах.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1BFB0D11-8BA9-42C7-A2AC-C958CB7D71B5}"/>
              </a:ext>
            </a:extLst>
          </p:cNvPr>
          <p:cNvSpPr/>
          <p:nvPr/>
        </p:nvSpPr>
        <p:spPr>
          <a:xfrm>
            <a:off x="457200" y="2868539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i="1" spc="125" dirty="0">
                <a:solidFill>
                  <a:schemeClr val="tx1"/>
                </a:solidFill>
                <a:latin typeface="Trebuchet MS"/>
              </a:rPr>
              <a:t>ОПИСАНИЕ </a:t>
            </a:r>
            <a:r>
              <a:rPr lang="ru-RU" sz="1100" i="1" spc="125" dirty="0">
                <a:solidFill>
                  <a:schemeClr val="tx1"/>
                </a:solidFill>
                <a:latin typeface="Trebuchet MS"/>
                <a:cs typeface="Trebuchet MS"/>
              </a:rPr>
              <a:t>УРОВНЕЙ ГОТОВНОСТИ И СООТВЕТСТВУЮЩИХ ИМ АРТЕФАКТОВ</a:t>
            </a:r>
            <a:endParaRPr lang="ru-RU" sz="1100" i="1" dirty="0">
              <a:solidFill>
                <a:schemeClr val="tx1"/>
              </a:solidFill>
            </a:endParaRP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xmlns="" id="{5390AD79-9B88-4A02-B862-E395ADA65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76096"/>
              </p:ext>
            </p:extLst>
          </p:nvPr>
        </p:nvGraphicFramePr>
        <p:xfrm>
          <a:off x="457200" y="3202295"/>
          <a:ext cx="11429998" cy="3468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9790">
                  <a:extLst>
                    <a:ext uri="{9D8B030D-6E8A-4147-A177-3AD203B41FA5}">
                      <a16:colId xmlns:a16="http://schemas.microsoft.com/office/drawing/2014/main" xmlns="" val="2146707146"/>
                    </a:ext>
                  </a:extLst>
                </a:gridCol>
                <a:gridCol w="4414235">
                  <a:extLst>
                    <a:ext uri="{9D8B030D-6E8A-4147-A177-3AD203B41FA5}">
                      <a16:colId xmlns:a16="http://schemas.microsoft.com/office/drawing/2014/main" xmlns="" val="4205423820"/>
                    </a:ext>
                  </a:extLst>
                </a:gridCol>
                <a:gridCol w="5145973">
                  <a:extLst>
                    <a:ext uri="{9D8B030D-6E8A-4147-A177-3AD203B41FA5}">
                      <a16:colId xmlns:a16="http://schemas.microsoft.com/office/drawing/2014/main" xmlns="" val="1604952429"/>
                    </a:ext>
                  </a:extLst>
                </a:gridCol>
              </a:tblGrid>
              <a:tr h="546210">
                <a:tc>
                  <a:txBody>
                    <a:bodyPr/>
                    <a:lstStyle/>
                    <a:p>
                      <a:r>
                        <a:rPr lang="ru-RU" sz="1400" dirty="0"/>
                        <a:t>Уровень готовности технологии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Краткое описание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Артефакт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048473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r>
                        <a:rPr lang="en-US" sz="1400" dirty="0"/>
                        <a:t>-3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Формирование концепции, лабораторные исследования, создание макета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Научные статьи, отчеты о моделировании, письма заинтересованности от партнеров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59225597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 b="1"/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b="1"/>
                        <a:t>Создание прототипа, подтверждение характеристик в лабораторных условиях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kern="1200" dirty="0" b="1">
                          <a:effectLst/>
                        </a:rPr>
                        <a:t>Фото/видео работающего лабораторного макета, протоколы успешных экспериментов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0150802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Пилотирование проекта (опытные испытания)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kern="1200" dirty="0" err="1">
                          <a:effectLst/>
                        </a:rPr>
                        <a:t>Видеодемонстрация</a:t>
                      </a:r>
                      <a:r>
                        <a:rPr lang="ru-RU" sz="1400" kern="1200" dirty="0">
                          <a:effectLst/>
                        </a:rPr>
                        <a:t> работы прототипа в промышленных условиях, отчет независимого тестирования.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94127428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Предсерийное производство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effectLst/>
                        </a:rPr>
                        <a:t>Акт о завершении пилотного проекта, отзыв пилотного заказчика, данные о стабильности работы.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51927280"/>
                  </a:ext>
                </a:extLst>
              </a:tr>
              <a:tr h="418980">
                <a:tc>
                  <a:txBody>
                    <a:bodyPr/>
                    <a:lstStyle/>
                    <a:p>
                      <a:r>
                        <a:rPr lang="ru-RU" sz="1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Серийное производство, коммерческое использование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effectLst/>
                        </a:rPr>
                        <a:t>Контракты на продажу, фото серийного производства, отзывы клиентов.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7052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289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ПРОГРЕСС ЗА ВРЕМЯ АКСЕЛЕРАЦИИ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10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603504" y="1554480"/>
            <a:ext cx="9601200" cy="45720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1F1A2E"/>
                </a:solidFill>
                <a:latin typeface="Arial"/>
              </a:rPr>
              <a:t>За первый этап: от идеи по задаче партнёра — к работающему прототипу с измеренным качеством.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EF24AC01-7E05-4F77-AFD8-4CD59F736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1410"/>
              </p:ext>
            </p:extLst>
          </p:nvPr>
        </p:nvGraphicFramePr>
        <p:xfrm>
          <a:off x="600618" y="2194560"/>
          <a:ext cx="10334880" cy="306394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67440">
                  <a:extLst>
                    <a:ext uri="{9D8B030D-6E8A-4147-A177-3AD203B41FA5}">
                      <a16:colId xmlns:a16="http://schemas.microsoft.com/office/drawing/2014/main" xmlns="" val="2499979409"/>
                    </a:ext>
                  </a:extLst>
                </a:gridCol>
                <a:gridCol w="5167440">
                  <a:extLst>
                    <a:ext uri="{9D8B030D-6E8A-4147-A177-3AD203B41FA5}">
                      <a16:colId xmlns:a16="http://schemas.microsoft.com/office/drawing/2014/main" xmlns="" val="1114083981"/>
                    </a:ext>
                  </a:extLst>
                </a:gridCol>
              </a:tblGrid>
              <a:tr h="503628">
                <a:tc>
                  <a:txBody>
                    <a:bodyPr/>
                    <a:lstStyle/>
                    <a:p>
                      <a:r>
                        <a:rPr lang="ru-RU" sz="1800" dirty="0"/>
                        <a:t>До участия в акселерационной программе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После участия в акселерационной программе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69128417"/>
                  </a:ext>
                </a:extLst>
              </a:tr>
              <a:tr h="57900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A2E"/>
                          </a:solidFill>
                          <a:latin typeface="Arial"/>
                        </a:rPr>
                        <a:t>Уровень готовности технологии — TRL 1: идея по задаче партнёра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Уровень готовности технологии — TRL 4: прототип, эталон из 85 вопросов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075207084"/>
                  </a:ext>
                </a:extLst>
              </a:tr>
              <a:tr h="57900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A2E"/>
                          </a:solidFill>
                          <a:latin typeface="Arial"/>
                        </a:rPr>
                        <a:t>Производственная готовность — нет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Производственная готовность — поставка одной папкой, установка без интернета за 46 с, работа на ПК и ноутбуке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2899280876"/>
                  </a:ext>
                </a:extLst>
              </a:tr>
              <a:tr h="57900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A2E"/>
                          </a:solidFill>
                          <a:latin typeface="Arial"/>
                        </a:rPr>
                        <a:t>Рыночная готовность — гипотезы о проблеме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Рыночная готовность — </a:t>
                      </a:r>
                      <a:r>
                        <a:rPr sz="1200" b="1">
                          <a:solidFill>
                            <a:srgbClr val="EF7D20"/>
                          </a:solidFill>
                          <a:latin typeface="Arial"/>
                        </a:rPr>
                        <a:t>[N интервью, проблема подтверждена или уточнена]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2984873228"/>
                  </a:ext>
                </a:extLst>
              </a:tr>
              <a:tr h="29479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A2E"/>
                          </a:solidFill>
                          <a:latin typeface="Arial"/>
                        </a:rPr>
                        <a:t>Партнёрства — задача из списка партнёров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Партнёрства — запрос партнёру </a:t>
                      </a:r>
                      <a:r>
                        <a:rPr sz="1200" b="1">
                          <a:solidFill>
                            <a:srgbClr val="EF7D20"/>
                          </a:solidFill>
                          <a:latin typeface="Arial"/>
                        </a:rPr>
                        <a:t>[отправлен / подготовлен]</a:t>
                      </a: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, </a:t>
                      </a:r>
                      <a:r>
                        <a:rPr sz="1200" b="1">
                          <a:solidFill>
                            <a:srgbClr val="EF7D20"/>
                          </a:solidFill>
                          <a:latin typeface="Arial"/>
                        </a:rPr>
                        <a:t>[договорённость о пилоте]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230751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664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ПЛАНЫ РАЗВИТИЯ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11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7315200" cy="484632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Исследования и разработка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Пилот на документах и вопросах сотрудников НаноТехноПром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Проверка на сканах партнёра, подключение к 1С и другим учётным системам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Интеллектуальная собственность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Регистрация программы для ЭВМ в Роспатенте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Внедрение и продвижение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Кейс пилота → 3–5 предприятий Рязанской области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Партнёрство с интеграторами 1С и разработчиками отраслевого ПО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Привлечение инвестиций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Грант «Студенческий стартап» Фонда содействия инновациям</a:t>
            </a:r>
          </a:p>
        </p:txBody>
      </p:sp>
      <p:pic>
        <p:nvPicPr>
          <p:cNvPr id="12" name="object 20">
            <a:extLst>
              <a:ext uri="{FF2B5EF4-FFF2-40B4-BE49-F238E27FC236}">
                <a16:creationId xmlns:a16="http://schemas.microsoft.com/office/drawing/2014/main" xmlns="" id="{0EC878D7-1E91-499B-AAA4-958154F29F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2721" y="1220088"/>
            <a:ext cx="3971035" cy="55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81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ЗАПРОС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12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7498079" cy="457200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 marL="201168" indent="-182880">
              <a:spcAft>
                <a:spcPts val="1000"/>
              </a:spcAft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Данные партнёра.</a:t>
            </a:r>
            <a:r>
              <a:rPr sz="1400" b="0">
                <a:solidFill>
                  <a:srgbClr val="1F1A2E"/>
                </a:solidFill>
                <a:latin typeface="Arial"/>
              </a:rPr>
              <a:t> Обезличенные документы и реальные вопросы сотрудников НаноТехноПром — чтобы измерить качество на настоящих задачах, а не на открытых документах</a:t>
            </a:r>
          </a:p>
          <a:p>
            <a:pPr algn="l" marL="201168" indent="-182880">
              <a:spcAft>
                <a:spcPts val="1000"/>
              </a:spcAft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Нетворкинг.</a:t>
            </a:r>
            <a:r>
              <a:rPr sz="1400" b="0">
                <a:solidFill>
                  <a:srgbClr val="1F1A2E"/>
                </a:solidFill>
                <a:latin typeface="Arial"/>
              </a:rPr>
              <a:t> Контакты 2–3 производственных предприятий Рязани — для интервью и подтверждения рынка</a:t>
            </a:r>
          </a:p>
          <a:p>
            <a:pPr algn="l" marL="201168" indent="-182880">
              <a:spcAft>
                <a:spcPts val="1000"/>
              </a:spcAft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Экспертиза.</a:t>
            </a:r>
            <a:r>
              <a:rPr sz="1400" b="0">
                <a:solidFill>
                  <a:srgbClr val="1F1A2E"/>
                </a:solidFill>
                <a:latin typeface="Arial"/>
              </a:rPr>
              <a:t> Требования информационной безопасности и порядок включения в реестр отечественного ПО</a:t>
            </a:r>
          </a:p>
          <a:p>
            <a:pPr algn="l" marL="201168" indent="-182880">
              <a:spcAft>
                <a:spcPts val="1000"/>
              </a:spcAft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Финансирование.</a:t>
            </a:r>
            <a:r>
              <a:rPr sz="1400" b="0">
                <a:solidFill>
                  <a:srgbClr val="1F1A2E"/>
                </a:solidFill>
                <a:latin typeface="Arial"/>
              </a:rPr>
              <a:t> Помощь с подготовкой заявки на грант «Студенческий стартап»</a:t>
            </a:r>
          </a:p>
        </p:txBody>
      </p:sp>
      <p:pic>
        <p:nvPicPr>
          <p:cNvPr id="9" name="object 24">
            <a:extLst>
              <a:ext uri="{FF2B5EF4-FFF2-40B4-BE49-F238E27FC236}">
                <a16:creationId xmlns:a16="http://schemas.microsoft.com/office/drawing/2014/main" xmlns="" id="{6D585236-A408-4923-A266-EE0F080B400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4487" y="1849136"/>
            <a:ext cx="3977513" cy="491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95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3247" y="3855720"/>
            <a:ext cx="6778752" cy="300228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506201" y="6442645"/>
            <a:ext cx="485520" cy="21800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13</a:t>
            </a:fld>
            <a:endParaRPr spc="-50" dirty="0">
              <a:solidFill>
                <a:srgbClr val="FFFFFF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C10E38BD-4C72-4A3E-B19B-A777C21076A1}"/>
              </a:ext>
            </a:extLst>
          </p:cNvPr>
          <p:cNvSpPr/>
          <p:nvPr/>
        </p:nvSpPr>
        <p:spPr>
          <a:xfrm>
            <a:off x="609600" y="140478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Прикрепите комментарии экспертов по вашему проекту (не менее 5 заключений) – в экспертизе должно быть отражено: теоретическая реализуемость, коммерческий потенциал, соответствие основным научным принципам.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5FFA1EB5-553E-47BF-A15D-536B148338FA}"/>
              </a:ext>
            </a:extLst>
          </p:cNvPr>
          <p:cNvSpPr/>
          <p:nvPr/>
        </p:nvSpPr>
        <p:spPr>
          <a:xfrm>
            <a:off x="609600" y="533400"/>
            <a:ext cx="594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400" b="1" spc="125" dirty="0">
                <a:solidFill>
                  <a:schemeClr val="bg1"/>
                </a:solidFill>
                <a:latin typeface="Trebuchet MS"/>
                <a:cs typeface="Trebuchet MS"/>
              </a:rPr>
              <a:t>ЭКСПЕРТНОЕ ЗАКЛЮЧЕНИЕ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1E7EECE7-4926-417C-AD28-0AB9ADD24EEF}"/>
              </a:ext>
            </a:extLst>
          </p:cNvPr>
          <p:cNvSpPr/>
          <p:nvPr/>
        </p:nvSpPr>
        <p:spPr>
          <a:xfrm>
            <a:off x="496823" y="5638800"/>
            <a:ext cx="6208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Укажите ФИО эксперта и ссылку на профиль в ИС «Эксперты НТИ».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441</Words>
  <Application>Microsoft Office PowerPoint</Application>
  <PresentationFormat>Произвольный</PresentationFormat>
  <Paragraphs>86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Презентация PowerPoint</vt:lpstr>
      <vt:lpstr>ПРОБЛЕМА</vt:lpstr>
      <vt:lpstr>РЕШЕНИЕ</vt:lpstr>
      <vt:lpstr>ТЕХНОЛОГИЧЕСКОЕ ЯДРО ПРОЕКТА</vt:lpstr>
      <vt:lpstr>КОНКУРЕНТЫ И АНАЛОГИ</vt:lpstr>
      <vt:lpstr>МОДЕЛЬ МОНЕТИЗАЦИИ  РЫНОК И ПОТРЕБИТЕЛИ</vt:lpstr>
      <vt:lpstr>КОМАНДА И ПРОГРЕСС</vt:lpstr>
      <vt:lpstr>ПАРТНЕРЫ</vt:lpstr>
      <vt:lpstr>УРОВЕНЬ ГОТОВНОСТИ ТЕХНОЛОГИИ</vt:lpstr>
      <vt:lpstr>ПРОГРЕСС ЗА ВРЕМЯ АКСЕЛЕРАЦИИ</vt:lpstr>
      <vt:lpstr>ПЛАНЫ РАЗВИТИЯ</vt:lpstr>
      <vt:lpstr>ЗАПРОС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Глебушкин Вячеслав Михайлович</dc:creator>
  <cp:lastModifiedBy>ЭМОП</cp:lastModifiedBy>
  <cp:revision>8</cp:revision>
  <dcterms:created xsi:type="dcterms:W3CDTF">2026-08-20T14:53:36Z</dcterms:created>
  <dcterms:modified xsi:type="dcterms:W3CDTF">2026-09-23T10:28:34Z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2026-08-20T00:00:00Z</vt:filetime>
  </property>
  <property fmtid="{D5CDD505-2E9C-101B-9397-08002B2CF9AE}" pid="6" name="Producer">
    <vt:lpwstr>Microsoft® PowerPoint® 2016</vt:lpwstr>
  </property>
</Properties>
</file>