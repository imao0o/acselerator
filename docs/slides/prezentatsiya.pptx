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85" r:id="rId20"/>
    <p:sldId id="287" r:id="rId22"/>
    <p:sldId id="276" r:id="rId5"/>
    <p:sldId id="286" r:id="rId21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пересборкой индекса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Сверено по сайтам 03.10.2026.</a:t>
            </a:r>
          </a:p>
          <a:p>
            <a:r>
              <a:t>Яндекс. «Нейроэксперт» в 2026 году переименован в «Алису Про». Для организаций — «Алиса AI для бизнеса» в Яндекс 360: база знаний и ответы со ссылками на источники, плагины 1С, Битрикс24, amoCRM, данные в ЦОД Яндекса в РФ, 1 199 ₽ в месяц за сотрудника (360.yandex.ru/business/alice-business). С 24.09.2026 — «Алиса AI Про для бизнеса»: 2 490–11 490 ₽ в месяц за сотрудника, облако, гибрид или контур — условия по проекту (aistudio.yandex.ru/ru/solutions/alice-ai-pro).</a:t>
            </a:r>
          </a:p>
          <a:p>
            <a:r>
              <a:t>Just AI, Jay Knowledge Hub: on-premise или частное облако по запросу, ссылки на первоисточник, встроенная оценка на эталоне (в кейсах 89–96 % точности), ответы по CSV и выгрузкам 1С, модели на выбор, в реестре отечественного ПО (just-ai.com/ai-baza-znaniy).</a:t>
            </a:r>
          </a:p>
          <a:p>
            <a:r>
              <a:t>RAGFlow (Apache 2.0), Dify: открытый код, ставятся в контур, ссылки на фрагменты; настройка и сопровождение — своей ИТ-командой.</a:t>
            </a:r>
          </a:p>
          <a:p>
            <a:r>
              <a:t>Не в таблице: GigaChat API — облачная модель Сбера, а не готовый продукт: ссылки и отказы делает разработчик. Битрикс24 BitrixGPT (бывший CoPilot) ищет по базе знаний портала; коробочной версии нужен доступ к облачным серверам Битрикс24.</a:t>
            </a:r>
          </a:p>
          <a:p>
            <a:r>
              <a:t>Если спросят «чем вы лучше Яндекса»: у Яндекса облако и подписка за каждого сотрудника, контур — отдельным проектом; у нас всё на одном компьютере без интернета, ссылка на пункт и страницу с выделением, опубликованный замер честных отказов.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Польза не только сотруднику, но и руководителю: агент показывает, каких документов не хватает. Вопросы без ответа собраны в темы, видно, сколько раз и у каких ролей их задавали, список выгружается в CSV. Цифры на экране — с тестовых вопросов команды, это не данные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вопрос «как поставить это на завод без интернета». Поставка собирается одной командой (scripts/make_bundle.py), на компьютере без сети запускается install.bat — 46 секунд, затем проверка «ГОТОВО К ПОКАЗУ». Служба безопасности сверяет контрольные суммы файлов. Во время работы чат и модели соединяются только с самим компьютером. Скорость — медиана на 85 вопросах эталона; качество во всех режимах 85 из 85, модель одна и та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Этим агент отличается от «чата по документам». Сравнение редакций: «Что изменилось в СТП ДП-02?» — изменённые, добавленные и исключённые пункты; телефон 2200 → 2211, срок 2 часа → 30 минут; пункты сопоставляются по смыслу, даже если нумерация сдвинулась, без языковой модели. Нормоконтроль: приказ в Word проверяется программно по ГОСТ Р 7.0.97 — в демо 6 нарушений и 1 рекомендация, у каждого ссылка на пункт стандарта; исправленный приказ — «Замечаний нет». Реквизиты и содержание по-прежнему проверяет человек. [Если участник 3 договорится — сказать о пилоте нормоконтроля в РГРТУ.]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 28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 28).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страницу, понимает уточнения в диалоге.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49 из 49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12 из 12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Эталон из 85 вопросов, неверных ответов — 0; вопросы «с ходу», как от жюри, — 38 из 38.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ПОЛЬЗА ДЛЯ РУКОВОДИТЕЛЯ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льза: текст"/>
          <p:cNvSpPr txBox="1"/>
          <p:nvPr/>
        </p:nvSpPr>
        <p:spPr>
          <a:xfrm>
            <a:off x="530352" y="137160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1A2E"/>
                </a:solidFill>
                <a:latin typeface="Arial"/>
              </a:rPr>
              <a:t>Пробелы в документации. </a:t>
            </a:r>
            <a:r>
              <a:rPr sz="1400" b="0">
                <a:solidFill>
                  <a:srgbClr val="1F1A2E"/>
                </a:solidFill>
                <a:latin typeface="Arial"/>
              </a:rPr>
              <a:t>Вопросы сотрудников, на которые в документах и учёте не нашлось ответа, агент собирает в темы: сколько раз и у каких ролей спрашивали — это список того, что дописать в регламенты. Пробел закрывается сам, когда агент начинает отвечать, а «Ответ есть для ролей» показывает, что дело в правах доступа.</a:t>
            </a:r>
          </a:p>
        </p:txBody>
      </p:sp>
      <p:sp>
        <p:nvSpPr>
          <p:cNvPr id="60" name="Польза: подпись"/>
          <p:cNvSpPr txBox="1"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Экран прототипа на тестовых вопросах команды. В администрировании также: журнал запросов с выгрузкой, оценки ответов сотрудниками, учёт редакций документов.</a:t>
            </a:r>
          </a:p>
        </p:txBody>
      </p:sp>
      <p:pic>
        <p:nvPicPr>
          <p:cNvPr id="61" name="Польза: экран пробелов" descr="09_probely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240280"/>
            <a:ext cx="10607040" cy="378413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ЧТО ЕЩЁ УМЕЕТ АГЕНТ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Редакции: заголовок"/>
          <p:cNvSpPr txBox="1"/>
          <p:nvPr/>
        </p:nvSpPr>
        <p:spPr>
          <a:xfrm>
            <a:off x="530352" y="1371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8064A2"/>
                </a:solidFill>
                <a:latin typeface="Arial"/>
              </a:rPr>
              <a:t>Что изменилось в новой редакции</a:t>
            </a:r>
          </a:p>
        </p:txBody>
      </p:sp>
      <p:sp>
        <p:nvSpPr>
          <p:cNvPr id="59" name="Редакции: текст"/>
          <p:cNvSpPr txBox="1"/>
          <p:nvPr/>
        </p:nvSpPr>
        <p:spPr>
          <a:xfrm>
            <a:off x="530352" y="17373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1A2E"/>
                </a:solidFill>
                <a:latin typeface="Arial"/>
              </a:rPr>
              <a:t>Пункты сопоставляются по смыслу, даже если нумерация сдвинулась: было → стало. Без языковой модели, за 0,05 с.</a:t>
            </a:r>
          </a:p>
        </p:txBody>
      </p:sp>
      <p:pic>
        <p:nvPicPr>
          <p:cNvPr id="60" name="Редакции: экран" descr="12_redakcii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95728"/>
            <a:ext cx="4684844" cy="3566160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sp>
        <p:nvSpPr>
          <p:cNvPr id="61" name="Нормоконтроль: заголовок"/>
          <p:cNvSpPr txBox="1"/>
          <p:nvPr/>
        </p:nvSpPr>
        <p:spPr>
          <a:xfrm>
            <a:off x="6355080" y="1371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8064A2"/>
                </a:solidFill>
                <a:latin typeface="Arial"/>
              </a:rPr>
              <a:t>Нормоконтроль по ГОСТ Р 7.0.97</a:t>
            </a:r>
          </a:p>
        </p:txBody>
      </p:sp>
      <p:sp>
        <p:nvSpPr>
          <p:cNvPr id="62" name="Нормоконтроль: текст"/>
          <p:cNvSpPr txBox="1"/>
          <p:nvPr/>
        </p:nvSpPr>
        <p:spPr>
          <a:xfrm>
            <a:off x="6355080" y="17373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1A2E"/>
                </a:solidFill>
                <a:latin typeface="Arial"/>
              </a:rPr>
              <a:t>Приказ в Word: поля, шрифт, отступы, интервалы, даты — у каждого замечания ссылка на пункт стандарта.</a:t>
            </a:r>
          </a:p>
        </p:txBody>
      </p:sp>
      <p:pic>
        <p:nvPicPr>
          <p:cNvPr id="63" name="Нормоконтроль: экран" descr="13_normokontrol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395728"/>
            <a:ext cx="4823085" cy="3566160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sp>
        <p:nvSpPr>
          <p:cNvPr id="64" name="Word: подпись"/>
          <p:cNvSpPr txBox="1"/>
          <p:nvPr/>
        </p:nvSpPr>
        <p:spPr>
          <a:xfrm>
            <a:off x="530352" y="60899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1A2E"/>
                </a:solidFill>
                <a:latin typeface="Arial"/>
              </a:rPr>
              <a:t>Ответ — в Word: </a:t>
            </a:r>
            <a:r>
              <a:rPr sz="1200" b="0">
                <a:solidFill>
                  <a:srgbClr val="1F1A2E"/>
                </a:solidFill>
                <a:latin typeface="Arial"/>
              </a:rPr>
              <a:t>кнопка под любым ответом сохраняет вопрос, ответ, таблицу записей и источники — чтобы вложить в служебную записку.</a:t>
            </a:r>
          </a:p>
        </p:txBody>
      </p:sp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 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 13, сквозная № 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ВНЕДРЕНИЕ В ЗАКРЫТОМ КОНТУРЕ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Внедрение: список"/>
          <p:cNvSpPr txBox="1"/>
          <p:nvPr/>
        </p:nvSpPr>
        <p:spPr>
          <a:xfrm>
            <a:off x="530352" y="1417320"/>
            <a:ext cx="5715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Поставка одной папкой: </a:t>
            </a:r>
            <a:r>
              <a:rPr sz="1400" b="0">
                <a:solidFill>
                  <a:srgbClr val="1F1A2E"/>
                </a:solidFill>
                <a:latin typeface="Arial"/>
              </a:rPr>
              <a:t>модели, программы, установщик и контрольные суммы SHA-256 каждого файла для службы безопасности.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Установка без интернета — 46 с. </a:t>
            </a:r>
            <a:r>
              <a:rPr sz="1400" b="0">
                <a:solidFill>
                  <a:srgbClr val="1F1A2E"/>
                </a:solidFill>
                <a:latin typeface="Arial"/>
              </a:rPr>
              <a:t>Во время работы нет соединений за пределы компьютера — проверено.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Права по ролям: </a:t>
            </a:r>
            <a:r>
              <a:rPr sz="1400" b="0">
                <a:solidFill>
                  <a:srgbClr val="1F1A2E"/>
                </a:solidFill>
                <a:latin typeface="Arial"/>
              </a:rPr>
              <a:t>сотрудник получает ответы только из доступных ему документов — 6 из 6 на проверке.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Журнал действий для ИБ: </a:t>
            </a:r>
            <a:r>
              <a:rPr sz="1400" b="0">
                <a:solidFill>
                  <a:srgbClr val="1F1A2E"/>
                </a:solidFill>
                <a:latin typeface="Arial"/>
              </a:rPr>
              <a:t>входы и неудачные попытки, загрузка и удаление документов, выдача ключей API; персональные данные в журнале вопросов маскируются.</a:t>
            </a:r>
          </a:p>
        </p:txBody>
      </p:sp>
      <p:sp>
        <p:nvSpPr>
          <p:cNvPr id="60" name="Внедрение: подпись экрана"/>
          <p:cNvSpPr txBox="1"/>
          <p:nvPr/>
        </p:nvSpPr>
        <p:spPr>
          <a:xfrm>
            <a:off x="6537960" y="4233825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Вкладка «Безопасность» — журнал действий (экран прототипа)</a:t>
            </a:r>
          </a:p>
        </p:txBody>
      </p:sp>
      <p:sp>
        <p:nvSpPr>
          <p:cNvPr id="61" name="Внедрение: скорость 1"/>
          <p:cNvSpPr/>
          <p:nvPr/>
        </p:nvSpPr>
        <p:spPr>
          <a:xfrm>
            <a:off x="53035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ПК с видеокартой RTX 5070</a:t>
            </a:r>
          </a:p>
        </p:txBody>
      </p:sp>
      <p:sp>
        <p:nvSpPr>
          <p:cNvPr id="62" name="Внедрение: скорость 2"/>
          <p:cNvSpPr/>
          <p:nvPr/>
        </p:nvSpPr>
        <p:spPr>
          <a:xfrm>
            <a:off x="432511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2,3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ноутбук с видеокартой от 4 ГБ</a:t>
            </a:r>
          </a:p>
        </p:txBody>
      </p:sp>
      <p:sp>
        <p:nvSpPr>
          <p:cNvPr id="63" name="Внедрение: скорость 3"/>
          <p:cNvSpPr/>
          <p:nvPr/>
        </p:nvSpPr>
        <p:spPr>
          <a:xfrm>
            <a:off x="811987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4,4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только процессор, 16 ГБ памяти</a:t>
            </a:r>
          </a:p>
        </p:txBody>
      </p:sp>
      <p:sp>
        <p:nvSpPr>
          <p:cNvPr id="64" name="Внедрение: подпись скорости"/>
          <p:cNvSpPr txBox="1"/>
          <p:nvPr/>
        </p:nvSpPr>
        <p:spPr>
          <a:xfrm>
            <a:off x="530352" y="59893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Время ответа — медиана на 85 вопросах эталона; качество во всех трёх режимах одинаковое — 85 из 85.</a:t>
            </a:r>
          </a:p>
        </p:txBody>
      </p:sp>
      <p:pic>
        <p:nvPicPr>
          <p:cNvPr id="65" name="Внедрение: экран безопасности" descr="11_bezopasnost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54480"/>
            <a:ext cx="5166360" cy="260619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— в сочетании гарантий: всё в контуре на одном компьютере, ссылка на пункт и страницу с выделением, опубликованный замер честных отказов, учётная база только на чтение. Отечественная модель, без зарубежных облачных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Яндекс: Алиса AI для бизнеса, Алиса AI Про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в РФ; контур — у версии Про, по проекту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 или частное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документ-первоисточник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Есть оценка на эталоне; доля отказов не публикуется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плагины 1С, Битрикс24, amoCRM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Таблицы CSV и выгрузки из 1С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из коробки — собирать вручную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Модели Яндекса в облаке; в Про — выбор моделей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На выбор: GigaChat, YandexGPT, DeepSeek, Qwen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Любая: локальная или облачная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1 199 ₽/мес за сотрудника; Про — от 2 490 ₽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— оплата по токенам; контур — по запросу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Бесплатно, но 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 28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 28: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условиях: эталон из 85 вопросов, 38 вопросов «с ходу», как от жюри, проверка прав по ролям.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поставка для закрытого контура; замеры скорости в трёх режимах.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поставка одной папкой, установка без интернета за 46 с,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сканах партнёра,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