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6" r:id="rId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5" d="100"/>
          <a:sy n="115" d="100"/>
        </p:scale>
        <p:origin x="-312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C8850-4F7C-4F32-A428-B45380D9B717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7F60A-D650-4C24-A25C-12FAA49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5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Технологическое ядро — генерация с опорой на найденные фрагменты документов. Модель не обучается на документах: документы разбираются на пункты и индексируются, на каждый вопрос модель получает только найденные фрагменты. Поэтому у каждого ответа есть источник, новые документы подключаются за минуту, а права доступа соблюдаются. Четыре уровня защиты от выдумок отмечены оранжевыми номерами; четвёртый — проверка, что ответ относится к тому же предмету, а не к похожему. Вопросы по учёту агент переводит в SQL-запрос только на чтение.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554287"/>
            <a:ext cx="10050780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7499" y="1479092"/>
            <a:ext cx="11125835" cy="4792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9145" y="6442645"/>
            <a:ext cx="2825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.xml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40" dirty="0">
                <a:latin typeface="Trebuchet MS"/>
                <a:cs typeface="Trebuchet MS"/>
              </a:rPr>
              <a:t>ТЕХНОЛОГИЧЕСКОЕ ЯДРО ПРОЕКТА</a:t>
            </a:r>
            <a:endParaRPr lang="ru-RU" dirty="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4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Подзаголовок"/>
          <p:cNvSpPr txBox="1"/>
          <p:nvPr/>
        </p:nvSpPr>
        <p:spPr>
          <a:xfrm>
            <a:off x="566928" y="132588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500" b="0">
                <a:solidFill>
                  <a:srgbClr val="1F1A2E"/>
                </a:solidFill>
                <a:latin typeface="Arial"/>
              </a:rPr>
              <a:t>Отвечает только по документам и учётной базе предприятия — со ссылкой на источник и без интернета</a:t>
            </a:r>
          </a:p>
        </p:txBody>
      </p:sp>
      <p:sp>
        <p:nvSpPr>
          <p:cNvPr id="59" name="Шаг: Вопрос"/>
          <p:cNvSpPr/>
          <p:nvPr/>
        </p:nvSpPr>
        <p:spPr>
          <a:xfrm>
            <a:off x="457200" y="3127248"/>
            <a:ext cx="109728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Вопрос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сотрудника</a:t>
            </a:r>
          </a:p>
        </p:txBody>
      </p:sp>
      <p:sp>
        <p:nvSpPr>
          <p:cNvPr id="60" name="Шаг: Где искать?"/>
          <p:cNvSpPr/>
          <p:nvPr/>
        </p:nvSpPr>
        <p:spPr>
          <a:xfrm>
            <a:off x="1684020" y="3127248"/>
            <a:ext cx="146304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Где искать?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GigaChat выбирает: документы или база</a:t>
            </a:r>
          </a:p>
        </p:txBody>
      </p:sp>
      <p:sp>
        <p:nvSpPr>
          <p:cNvPr id="61" name="Шаг: Гибридный поиск"/>
          <p:cNvSpPr/>
          <p:nvPr/>
        </p:nvSpPr>
        <p:spPr>
          <a:xfrm>
            <a:off x="3276600" y="3127248"/>
            <a:ext cx="160020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Гибридный поиск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по словам (BM25) и по смыслу (bge-m3)</a:t>
            </a:r>
          </a:p>
        </p:txBody>
      </p:sp>
      <p:sp>
        <p:nvSpPr>
          <p:cNvPr id="62" name="Шаг: Оценка релевантности"/>
          <p:cNvSpPr/>
          <p:nvPr/>
        </p:nvSpPr>
        <p:spPr>
          <a:xfrm>
            <a:off x="5006340" y="3127248"/>
            <a:ext cx="146304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Оценка релевантности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переранжировщик bge-reranker-v2-m3</a:t>
            </a:r>
          </a:p>
        </p:txBody>
      </p:sp>
      <p:sp>
        <p:nvSpPr>
          <p:cNvPr id="63" name="Шаг: GigaChat 3.1 Lightning"/>
          <p:cNvSpPr/>
          <p:nvPr/>
        </p:nvSpPr>
        <p:spPr>
          <a:xfrm>
            <a:off x="6598920" y="3127248"/>
            <a:ext cx="1828800" cy="914400"/>
          </a:xfrm>
          <a:prstGeom prst="roundRect">
            <a:avLst>
              <a:gd name="adj" fmla="val 18000"/>
            </a:avLst>
          </a:prstGeom>
          <a:solidFill>
            <a:srgbClr val="8064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GigaChat 3.1 Lightning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отвечает только по найденным фрагментам</a:t>
            </a:r>
          </a:p>
        </p:txBody>
      </p:sp>
      <p:sp>
        <p:nvSpPr>
          <p:cNvPr id="64" name="Шаг: Проверка ответа"/>
          <p:cNvSpPr/>
          <p:nvPr/>
        </p:nvSpPr>
        <p:spPr>
          <a:xfrm>
            <a:off x="8557260" y="3127248"/>
            <a:ext cx="132588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Проверка ответа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ссылки верны, ответ о том же предмете</a:t>
            </a:r>
          </a:p>
        </p:txBody>
      </p:sp>
      <p:sp>
        <p:nvSpPr>
          <p:cNvPr id="65" name="Шаг: Ответ со ссылкой"/>
          <p:cNvSpPr/>
          <p:nvPr/>
        </p:nvSpPr>
        <p:spPr>
          <a:xfrm>
            <a:off x="10012680" y="3127248"/>
            <a:ext cx="1691640" cy="914400"/>
          </a:xfrm>
          <a:prstGeom prst="roundRect">
            <a:avLst>
              <a:gd name="adj" fmla="val 18000"/>
            </a:avLst>
          </a:prstGeom>
          <a:solidFill>
            <a:srgbClr val="4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Ответ со ссылкой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документ · пункт · страница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55448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14706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87680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46938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42772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883140" y="3584448"/>
            <a:ext cx="12954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Защита 1"/>
          <p:cNvSpPr/>
          <p:nvPr/>
        </p:nvSpPr>
        <p:spPr>
          <a:xfrm>
            <a:off x="6286500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3" name="Защита 2"/>
          <p:cNvSpPr/>
          <p:nvPr/>
        </p:nvSpPr>
        <p:spPr>
          <a:xfrm>
            <a:off x="8244840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4" name="Защита 3"/>
          <p:cNvSpPr/>
          <p:nvPr/>
        </p:nvSpPr>
        <p:spPr>
          <a:xfrm>
            <a:off x="9407652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5" name="Защита 4"/>
          <p:cNvSpPr/>
          <p:nvPr/>
        </p:nvSpPr>
        <p:spPr>
          <a:xfrm>
            <a:off x="9700260" y="2907791"/>
            <a:ext cx="274320" cy="274320"/>
          </a:xfrm>
          <a:prstGeom prst="ellipse">
            <a:avLst/>
          </a:prstGeom>
          <a:solidFill>
            <a:srgbClr val="EF7D2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288036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1">
                <a:solidFill>
                  <a:srgbClr val="6E667A"/>
                </a:solidFill>
                <a:latin typeface="Arial"/>
              </a:rPr>
              <a:t>ВОПРОС ПО ДОКУМЕНТАМ</a:t>
            </a:r>
          </a:p>
        </p:txBody>
      </p:sp>
      <p:sp>
        <p:nvSpPr>
          <p:cNvPr id="77" name="Индексация: PDF, DOCX"/>
          <p:cNvSpPr/>
          <p:nvPr/>
        </p:nvSpPr>
        <p:spPr>
          <a:xfrm>
            <a:off x="457200" y="2029968"/>
            <a:ext cx="1097280" cy="713232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PDF, DOCX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регламенты, ГОСТы</a:t>
            </a:r>
          </a:p>
        </p:txBody>
      </p:sp>
      <p:sp>
        <p:nvSpPr>
          <p:cNvPr id="78" name="Индексация: Разбор на пункты"/>
          <p:cNvSpPr/>
          <p:nvPr/>
        </p:nvSpPr>
        <p:spPr>
          <a:xfrm>
            <a:off x="1719072" y="2029968"/>
            <a:ext cx="1392936" cy="713232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Разбор на пункты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номер пункта и страницы</a:t>
            </a:r>
          </a:p>
        </p:txBody>
      </p:sp>
      <p:sp>
        <p:nvSpPr>
          <p:cNvPr id="79" name="Индексация: Индекс"/>
          <p:cNvSpPr/>
          <p:nvPr/>
        </p:nvSpPr>
        <p:spPr>
          <a:xfrm>
            <a:off x="3276600" y="2029968"/>
            <a:ext cx="1600200" cy="713232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Индекс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слова и смысловые векторы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554480" y="2386584"/>
            <a:ext cx="164592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112008" y="2386584"/>
            <a:ext cx="164592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076700" y="2743200"/>
            <a:ext cx="0" cy="384048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57200" y="17830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1">
                <a:solidFill>
                  <a:srgbClr val="6E667A"/>
                </a:solidFill>
                <a:latin typeface="Arial"/>
              </a:rPr>
              <a:t>ИНДЕКСАЦИЯ — при добавлении документов</a:t>
            </a:r>
          </a:p>
        </p:txBody>
      </p:sp>
      <p:sp>
        <p:nvSpPr>
          <p:cNvPr id="84" name="Четыре уровня защиты"/>
          <p:cNvSpPr/>
          <p:nvPr/>
        </p:nvSpPr>
        <p:spPr>
          <a:xfrm>
            <a:off x="5006340" y="2029968"/>
            <a:ext cx="6697980" cy="713232"/>
          </a:xfrm>
          <a:prstGeom prst="roundRect">
            <a:avLst>
              <a:gd name="adj" fmla="val 12000"/>
            </a:avLst>
          </a:prstGeom>
          <a:solidFill>
            <a:srgbClr val="FDEFE3"/>
          </a:solidFill>
          <a:ln w="12700">
            <a:solidFill>
              <a:srgbClr val="EF7D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1F1A2E"/>
                </a:solidFill>
                <a:latin typeface="Arial"/>
              </a:rPr>
              <a:t>Четыре уровня защиты от выдумок</a:t>
            </a:r>
          </a:p>
          <a:p>
            <a:r>
              <a:rPr sz="1050" b="0">
                <a:solidFill>
                  <a:srgbClr val="1F1A2E"/>
                </a:solidFill>
                <a:latin typeface="Arial"/>
              </a:rPr>
              <a:t>1 — нерелевантно: «ответа нет», модель не вызывается   2 — модель видит только найденное</a:t>
            </a:r>
          </a:p>
          <a:p>
            <a:r>
              <a:rPr sz="1050" b="0">
                <a:solidFill>
                  <a:srgbClr val="1F1A2E"/>
                </a:solidFill>
                <a:latin typeface="Arial"/>
              </a:rPr>
              <a:t>3 — ответ без верной ссылки не показывается   4 — ответ о том же предмете, а не о похожем</a:t>
            </a:r>
          </a:p>
        </p:txBody>
      </p:sp>
      <p:sp>
        <p:nvSpPr>
          <p:cNvPr id="85" name="Учёт: SQL"/>
          <p:cNvSpPr/>
          <p:nvPr/>
        </p:nvSpPr>
        <p:spPr>
          <a:xfrm>
            <a:off x="1684020" y="4462272"/>
            <a:ext cx="1828800" cy="7315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GigaChat → SQL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только SELECT, только чтение</a:t>
            </a:r>
          </a:p>
        </p:txBody>
      </p:sp>
      <p:sp>
        <p:nvSpPr>
          <p:cNvPr id="86" name="Учёт: база"/>
          <p:cNvSpPr/>
          <p:nvPr/>
        </p:nvSpPr>
        <p:spPr>
          <a:xfrm>
            <a:off x="3695700" y="4462272"/>
            <a:ext cx="1554480" cy="731520"/>
          </a:xfrm>
          <a:prstGeom prst="can">
            <a:avLst/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Учётная база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1С · ERP · MES</a:t>
            </a:r>
          </a:p>
        </p:txBody>
      </p:sp>
      <p:sp>
        <p:nvSpPr>
          <p:cNvPr id="87" name="Учёт: ответ"/>
          <p:cNvSpPr/>
          <p:nvPr/>
        </p:nvSpPr>
        <p:spPr>
          <a:xfrm>
            <a:off x="5433060" y="4462272"/>
            <a:ext cx="2103120" cy="731520"/>
          </a:xfrm>
          <a:prstGeom prst="roundRect">
            <a:avLst>
              <a:gd name="adj" fmla="val 18000"/>
            </a:avLst>
          </a:prstGeom>
          <a:solidFill>
            <a:srgbClr val="4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Ответ + таблица записей</a:t>
            </a:r>
          </a:p>
          <a:p>
            <a:pPr algn="ctr"/>
            <a:r>
              <a:rPr sz="1050">
                <a:solidFill>
                  <a:srgbClr val="FFFFFF"/>
                </a:solidFill>
                <a:latin typeface="Arial"/>
              </a:rPr>
              <a:t>запрос — у администратора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2415540" y="4041648"/>
            <a:ext cx="0" cy="420624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512820" y="4828032"/>
            <a:ext cx="18288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50180" y="4828032"/>
            <a:ext cx="18288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525268" y="406908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r>
              <a:rPr sz="1000" b="0">
                <a:solidFill>
                  <a:srgbClr val="6E667A"/>
                </a:solidFill>
                <a:latin typeface="Arial"/>
              </a:rPr>
              <a:t>вопрос по учёту</a:t>
            </a:r>
          </a:p>
        </p:txBody>
      </p:sp>
      <p:sp>
        <p:nvSpPr>
          <p:cNvPr id="92" name="Журнал"/>
          <p:cNvSpPr/>
          <p:nvPr/>
        </p:nvSpPr>
        <p:spPr>
          <a:xfrm>
            <a:off x="10012680" y="4462272"/>
            <a:ext cx="1691640" cy="731520"/>
          </a:xfrm>
          <a:prstGeom prst="roundRect">
            <a:avLst>
              <a:gd name="adj" fmla="val 18000"/>
            </a:avLst>
          </a:prstGeom>
          <a:solidFill>
            <a:srgbClr val="E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Журнал запросов</a:t>
            </a:r>
          </a:p>
          <a:p>
            <a:pPr algn="ctr"/>
            <a:r>
              <a:rPr sz="1050">
                <a:solidFill>
                  <a:srgbClr val="1F1A2E"/>
                </a:solidFill>
                <a:latin typeface="Arial"/>
              </a:rPr>
              <a:t>кто, что спросил, что получил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0858500" y="4041648"/>
            <a:ext cx="0" cy="420624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536180" y="4828032"/>
            <a:ext cx="2476500" cy="0"/>
          </a:xfrm>
          <a:prstGeom prst="line">
            <a:avLst/>
          </a:prstGeom>
          <a:ln w="19050">
            <a:solidFill>
              <a:srgbClr val="806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Факт: Отечественная модель"/>
          <p:cNvSpPr/>
          <p:nvPr/>
        </p:nvSpPr>
        <p:spPr>
          <a:xfrm>
            <a:off x="4572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Отечественная модель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GigaChat 3.1 Lightning, MIT, без иностранных весов</a:t>
            </a:r>
          </a:p>
        </p:txBody>
      </p:sp>
      <p:sp>
        <p:nvSpPr>
          <p:cNvPr id="96" name="Факт: Без интернета"/>
          <p:cNvSpPr/>
          <p:nvPr/>
        </p:nvSpPr>
        <p:spPr>
          <a:xfrm>
            <a:off x="33147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Без интернета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одна видеокарта 12 ГБ или только процессор</a:t>
            </a:r>
          </a:p>
        </p:txBody>
      </p:sp>
      <p:sp>
        <p:nvSpPr>
          <p:cNvPr id="97" name="Факт: Скорость"/>
          <p:cNvSpPr/>
          <p:nvPr/>
        </p:nvSpPr>
        <p:spPr>
          <a:xfrm>
            <a:off x="61722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Скорость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1,2 с на ответ (RTX 5070), около 4 с без видеокарты</a:t>
            </a:r>
          </a:p>
        </p:txBody>
      </p:sp>
      <p:sp>
        <p:nvSpPr>
          <p:cNvPr id="98" name="Факт: Указ № 529"/>
          <p:cNvSpPr/>
          <p:nvPr/>
        </p:nvSpPr>
        <p:spPr>
          <a:xfrm>
            <a:off x="9029700" y="5596128"/>
            <a:ext cx="2674620" cy="749808"/>
          </a:xfrm>
          <a:prstGeom prst="roundRect">
            <a:avLst>
              <a:gd name="adj" fmla="val 18000"/>
            </a:avLst>
          </a:prstGeom>
          <a:solidFill>
            <a:srgbClr val="D8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1A2E"/>
                </a:solidFill>
                <a:latin typeface="Arial"/>
              </a:rPr>
              <a:t>Указ № 529</a:t>
            </a:r>
          </a:p>
          <a:p>
            <a:pPr algn="ctr"/>
            <a:r>
              <a:rPr sz="1100">
                <a:solidFill>
                  <a:srgbClr val="1F1A2E"/>
                </a:solidFill>
                <a:latin typeface="Arial"/>
              </a:rPr>
              <a:t>критическая технология № 13, сквозная № 25</a:t>
            </a:r>
          </a:p>
        </p:txBody>
      </p:sp>
    </p:spTree>
    <p:extLst>
      <p:ext uri="{BB962C8B-B14F-4D97-AF65-F5344CB8AC3E}">
        <p14:creationId xmlns:p14="http://schemas.microsoft.com/office/powerpoint/2010/main" val="170573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441</Words>
  <Application>Microsoft Office PowerPoint</Application>
  <PresentationFormat>Произвольный</PresentationFormat>
  <Paragraphs>86</Paragraphs>
  <Slides>13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Office Theme</vt:lpstr>
      <vt:lpstr>Презентация PowerPoint</vt:lpstr>
      <vt:lpstr>ПРОБЛЕМА</vt:lpstr>
      <vt:lpstr>РЕШЕНИЕ</vt:lpstr>
      <vt:lpstr>ТЕХНОЛОГИЧЕСКОЕ ЯДРО ПРОЕКТА</vt:lpstr>
      <vt:lpstr>КОНКУРЕНТЫ И АНАЛОГИ</vt:lpstr>
      <vt:lpstr>МОДЕЛЬ МОНЕТИЗАЦИИ  РЫНОК И ПОТРЕБИТЕЛИ</vt:lpstr>
      <vt:lpstr>КОМАНДА И ПРОГРЕСС</vt:lpstr>
      <vt:lpstr>ПАРТНЕРЫ</vt:lpstr>
      <vt:lpstr>УРОВЕНЬ ГОТОВНОСТИ ТЕХНОЛОГИИ</vt:lpstr>
      <vt:lpstr>ПРОГРЕСС ЗА ВРЕМЯ АКСЕЛЕРАЦИИ</vt:lpstr>
      <vt:lpstr>ПЛАНЫ РАЗВИТИЯ</vt:lpstr>
      <vt:lpstr>ЗАПРОС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Глебушкин Вячеслав Михайлович</dc:creator>
  <cp:lastModifiedBy>ЭМОП</cp:lastModifiedBy>
  <cp:revision>8</cp:revision>
  <dcterms:created xsi:type="dcterms:W3CDTF">2026-08-20T14:53:36Z</dcterms:created>
  <dcterms:modified xsi:type="dcterms:W3CDTF">2026-09-23T10:28:34Z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2026-08-20T00:00:00Z</vt:filetime>
  </property>
  <property fmtid="{D5CDD505-2E9C-101B-9397-08002B2CF9AE}" pid="6" name="Producer">
    <vt:lpwstr>Microsoft® PowerPoint® 2016</vt:lpwstr>
  </property>
</Properties>
</file>